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8288000" cy="10287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90135DB-01DD-4C17-8340-B52899EBC4C6}" v="41" dt="2026-04-15T17:43:43.903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1" d="100"/>
          <a:sy n="41" d="100"/>
        </p:scale>
        <p:origin x="820" y="-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92" name="Shape 92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1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>
            <a:spLocks noGrp="1"/>
          </p:cNvSpPr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t>Title Text</a:t>
            </a:r>
          </a:p>
        </p:txBody>
      </p:sp>
      <p:sp>
        <p:nvSpPr>
          <p:cNvPr id="3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9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sz="2400" b="1"/>
            </a:lvl1pPr>
            <a:lvl2pPr marL="0" indent="457200">
              <a:spcBef>
                <a:spcPts val="500"/>
              </a:spcBef>
              <a:buSzTx/>
              <a:buFontTx/>
              <a:buNone/>
              <a:defRPr sz="2400" b="1"/>
            </a:lvl2pPr>
            <a:lvl3pPr marL="0" indent="914400">
              <a:spcBef>
                <a:spcPts val="500"/>
              </a:spcBef>
              <a:buSzTx/>
              <a:buFontTx/>
              <a:buNone/>
              <a:defRPr sz="2400" b="1"/>
            </a:lvl3pPr>
            <a:lvl4pPr marL="0" indent="1371600">
              <a:spcBef>
                <a:spcPts val="500"/>
              </a:spcBef>
              <a:buSzTx/>
              <a:buFontTx/>
              <a:buNone/>
              <a:defRPr sz="2400" b="1"/>
            </a:lvl4pPr>
            <a:lvl5pPr marL="0" indent="1828800">
              <a:spcBef>
                <a:spcPts val="500"/>
              </a:spcBef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sz="2400" b="1"/>
            </a:pPr>
            <a:endParaRPr/>
          </a:p>
        </p:txBody>
      </p:sp>
      <p:sp>
        <p:nvSpPr>
          <p:cNvPr id="5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t>Title Text</a:t>
            </a:r>
          </a:p>
        </p:txBody>
      </p:sp>
      <p:sp>
        <p:nvSpPr>
          <p:cNvPr id="73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  <a:endParaRPr/>
          </a:p>
        </p:txBody>
      </p:sp>
      <p:sp>
        <p:nvSpPr>
          <p:cNvPr id="7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t>Title Text</a:t>
            </a:r>
          </a:p>
        </p:txBody>
      </p:sp>
      <p:sp>
        <p:nvSpPr>
          <p:cNvPr id="83" name="Picture Placeholder 2"/>
          <p:cNvSpPr>
            <a:spLocks noGrp="1"/>
          </p:cNvSpPr>
          <p:nvPr>
            <p:ph type="pic" sz="quarter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8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914400" y="138112"/>
            <a:ext cx="16459200" cy="22621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914400" y="2400300"/>
            <a:ext cx="16459200" cy="7886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ransition spd="med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Freeform 11"/>
          <p:cNvSpPr/>
          <p:nvPr/>
        </p:nvSpPr>
        <p:spPr>
          <a:xfrm>
            <a:off x="11762088" y="-9632634"/>
            <a:ext cx="10994425" cy="10994425"/>
          </a:xfrm>
          <a:prstGeom prst="ellipse">
            <a:avLst/>
          </a:prstGeom>
          <a:ln w="514350" cap="sq">
            <a:solidFill>
              <a:srgbClr val="FD6220">
                <a:alpha val="11765"/>
              </a:srgbClr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5" name="Freeform 20"/>
          <p:cNvSpPr/>
          <p:nvPr/>
        </p:nvSpPr>
        <p:spPr>
          <a:xfrm>
            <a:off x="-9965724" y="-1383136"/>
            <a:ext cx="10994424" cy="10994424"/>
          </a:xfrm>
          <a:prstGeom prst="ellipse">
            <a:avLst/>
          </a:prstGeom>
          <a:ln w="514350" cap="sq">
            <a:solidFill>
              <a:srgbClr val="FD6220">
                <a:alpha val="11765"/>
              </a:srgbClr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96" name="Picture 22" descr="Picture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0443" y="196688"/>
            <a:ext cx="4752248" cy="1360613"/>
          </a:xfrm>
          <a:prstGeom prst="rect">
            <a:avLst/>
          </a:prstGeom>
          <a:ln w="12700">
            <a:miter lim="400000"/>
          </a:ln>
        </p:spPr>
      </p:pic>
      <p:sp>
        <p:nvSpPr>
          <p:cNvPr id="97" name="TextBox 23"/>
          <p:cNvSpPr txBox="1"/>
          <p:nvPr/>
        </p:nvSpPr>
        <p:spPr>
          <a:xfrm>
            <a:off x="1405721" y="1608481"/>
            <a:ext cx="15834361" cy="156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3200">
                <a:latin typeface="Cambria"/>
                <a:ea typeface="Cambria"/>
                <a:cs typeface="Cambria"/>
                <a:sym typeface="Cambria"/>
              </a:defRPr>
            </a:pPr>
            <a:r>
              <a:rPr dirty="0"/>
              <a:t>Vel Tech Rangarajan Dr. Sagunthala R&amp;D Institute of Science and Technology</a:t>
            </a:r>
          </a:p>
          <a:p>
            <a:pPr algn="ctr">
              <a:defRPr sz="3600">
                <a:latin typeface="Cambria"/>
                <a:ea typeface="Cambria"/>
                <a:cs typeface="Cambria"/>
                <a:sym typeface="Cambria"/>
              </a:defRPr>
            </a:pPr>
            <a:r>
              <a:rPr dirty="0"/>
              <a:t>School of Computing </a:t>
            </a:r>
          </a:p>
          <a:p>
            <a:pPr algn="ctr">
              <a:defRPr sz="3200">
                <a:latin typeface="Cambria"/>
                <a:ea typeface="Cambria"/>
                <a:cs typeface="Cambria"/>
                <a:sym typeface="Cambria"/>
              </a:defRPr>
            </a:pPr>
            <a:r>
              <a:rPr dirty="0"/>
              <a:t>Department of Computer Science and Engineering</a:t>
            </a:r>
          </a:p>
        </p:txBody>
      </p:sp>
      <p:sp>
        <p:nvSpPr>
          <p:cNvPr id="98" name="TextBox 25"/>
          <p:cNvSpPr txBox="1"/>
          <p:nvPr/>
        </p:nvSpPr>
        <p:spPr>
          <a:xfrm>
            <a:off x="1738554" y="3272356"/>
            <a:ext cx="15168697" cy="497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2800" b="1">
                <a:solidFill>
                  <a:srgbClr val="0033CC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</a:lstStyle>
          <a:p>
            <a:r>
              <a:t>10211CS224 / FULL STACK APPLICATION DEVELOPMENT (JAVA)</a:t>
            </a:r>
          </a:p>
        </p:txBody>
      </p:sp>
      <p:sp>
        <p:nvSpPr>
          <p:cNvPr id="99" name="TextBox 26"/>
          <p:cNvSpPr txBox="1"/>
          <p:nvPr/>
        </p:nvSpPr>
        <p:spPr>
          <a:xfrm>
            <a:off x="3773476" y="3897939"/>
            <a:ext cx="11098850" cy="17543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3600" b="1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dirty="0"/>
              <a:t>PROJECT REVIEW : MILESTONE PROJECT – </a:t>
            </a:r>
            <a:r>
              <a:rPr lang="en-IN" dirty="0"/>
              <a:t>2</a:t>
            </a:r>
            <a:endParaRPr dirty="0"/>
          </a:p>
          <a:p>
            <a:pPr algn="ctr">
              <a:defRPr sz="3600" b="1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defRPr>
            </a:pPr>
            <a:endParaRPr dirty="0"/>
          </a:p>
          <a:p>
            <a:pPr algn="ctr">
              <a:defRPr sz="3600" b="1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dirty="0"/>
              <a:t>Date: </a:t>
            </a:r>
            <a:r>
              <a:rPr lang="en-IN" dirty="0"/>
              <a:t>16</a:t>
            </a:r>
            <a:r>
              <a:rPr dirty="0"/>
              <a:t>-0</a:t>
            </a:r>
            <a:r>
              <a:rPr lang="en-IN" dirty="0"/>
              <a:t>4</a:t>
            </a:r>
            <a:r>
              <a:rPr dirty="0"/>
              <a:t>-2026</a:t>
            </a:r>
          </a:p>
        </p:txBody>
      </p:sp>
      <p:sp>
        <p:nvSpPr>
          <p:cNvPr id="100" name="TextBox 12"/>
          <p:cNvSpPr txBox="1"/>
          <p:nvPr/>
        </p:nvSpPr>
        <p:spPr>
          <a:xfrm>
            <a:off x="1547359" y="6057899"/>
            <a:ext cx="15692724" cy="10772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3200" b="1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IN" b="0" dirty="0"/>
              <a:t>Job Portal Management System </a:t>
            </a:r>
            <a:br>
              <a:rPr lang="en-IN" dirty="0"/>
            </a:br>
            <a:endParaRPr dirty="0"/>
          </a:p>
        </p:txBody>
      </p:sp>
      <p:sp>
        <p:nvSpPr>
          <p:cNvPr id="101" name="TextBox 13"/>
          <p:cNvSpPr txBox="1"/>
          <p:nvPr/>
        </p:nvSpPr>
        <p:spPr>
          <a:xfrm>
            <a:off x="939589" y="7800539"/>
            <a:ext cx="8976361" cy="13916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150000"/>
              </a:lnSpc>
              <a:defRPr sz="3000">
                <a:latin typeface="Cambria"/>
                <a:ea typeface="Cambria"/>
                <a:cs typeface="Cambria"/>
                <a:sym typeface="Cambria"/>
              </a:defRPr>
            </a:pPr>
            <a:r>
              <a:rPr dirty="0"/>
              <a:t>Presented By:</a:t>
            </a:r>
          </a:p>
          <a:p>
            <a:pPr>
              <a:lnSpc>
                <a:spcPct val="150000"/>
              </a:lnSpc>
              <a:defRPr sz="3000">
                <a:latin typeface="Cambria"/>
                <a:ea typeface="Cambria"/>
                <a:cs typeface="Cambria"/>
                <a:sym typeface="Cambria"/>
              </a:defRPr>
            </a:pPr>
            <a:r>
              <a:rPr lang="en-IN" dirty="0"/>
              <a:t>B. Vishnu Vardhan</a:t>
            </a:r>
            <a:r>
              <a:rPr dirty="0"/>
              <a:t> – VTU2</a:t>
            </a:r>
            <a:r>
              <a:rPr lang="en-IN" dirty="0"/>
              <a:t>4685</a:t>
            </a:r>
            <a:r>
              <a:rPr dirty="0"/>
              <a:t> – 23UECS</a:t>
            </a:r>
            <a:r>
              <a:rPr lang="en-US" dirty="0"/>
              <a:t>1020</a:t>
            </a:r>
            <a:endParaRPr dirty="0"/>
          </a:p>
        </p:txBody>
      </p:sp>
      <p:sp>
        <p:nvSpPr>
          <p:cNvPr id="102" name="TextBox 14"/>
          <p:cNvSpPr txBox="1"/>
          <p:nvPr/>
        </p:nvSpPr>
        <p:spPr>
          <a:xfrm>
            <a:off x="10990755" y="7818586"/>
            <a:ext cx="6823163" cy="20841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150000"/>
              </a:lnSpc>
              <a:defRPr sz="3000">
                <a:latin typeface="Cambria"/>
                <a:ea typeface="Cambria"/>
                <a:cs typeface="Cambria"/>
                <a:sym typeface="Cambria"/>
              </a:defRPr>
            </a:pPr>
            <a:r>
              <a:rPr dirty="0"/>
              <a:t>Courses Handling Faculty:</a:t>
            </a:r>
          </a:p>
          <a:p>
            <a:pPr>
              <a:lnSpc>
                <a:spcPct val="150000"/>
              </a:lnSpc>
              <a:defRPr sz="3000">
                <a:latin typeface="Cambria"/>
                <a:ea typeface="Cambria"/>
                <a:cs typeface="Cambria"/>
                <a:sym typeface="Cambria"/>
              </a:defRPr>
            </a:pPr>
            <a:r>
              <a:rPr dirty="0" err="1"/>
              <a:t>Dr.</a:t>
            </a:r>
            <a:r>
              <a:rPr lang="en-US" dirty="0" err="1"/>
              <a:t>HAFIZUR</a:t>
            </a:r>
            <a:r>
              <a:rPr lang="en-US" dirty="0"/>
              <a:t> RAHMAN</a:t>
            </a:r>
            <a:endParaRPr dirty="0"/>
          </a:p>
          <a:p>
            <a:pPr>
              <a:lnSpc>
                <a:spcPct val="150000"/>
              </a:lnSpc>
              <a:defRPr sz="3000">
                <a:latin typeface="Cambria"/>
                <a:ea typeface="Cambria"/>
                <a:cs typeface="Cambria"/>
                <a:sym typeface="Cambria"/>
              </a:defRPr>
            </a:pPr>
            <a:r>
              <a:rPr dirty="0"/>
              <a:t>(TTS</a:t>
            </a:r>
            <a:r>
              <a:rPr lang="en-US" dirty="0"/>
              <a:t>3985</a:t>
            </a:r>
            <a:r>
              <a:rPr dirty="0"/>
              <a:t>)</a:t>
            </a:r>
          </a:p>
        </p:txBody>
      </p:sp>
      <p:sp>
        <p:nvSpPr>
          <p:cNvPr id="103" name="TextBox 15"/>
          <p:cNvSpPr txBox="1"/>
          <p:nvPr/>
        </p:nvSpPr>
        <p:spPr>
          <a:xfrm>
            <a:off x="2255520" y="6972300"/>
            <a:ext cx="14651730" cy="400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2000"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endParaRPr dirty="0"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Freeform 8"/>
          <p:cNvSpPr/>
          <p:nvPr/>
        </p:nvSpPr>
        <p:spPr>
          <a:xfrm>
            <a:off x="16313419" y="910464"/>
            <a:ext cx="945881" cy="236471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grpSp>
        <p:nvGrpSpPr>
          <p:cNvPr id="108" name="Group 9"/>
          <p:cNvGrpSpPr/>
          <p:nvPr/>
        </p:nvGrpSpPr>
        <p:grpSpPr>
          <a:xfrm>
            <a:off x="706081" y="1952202"/>
            <a:ext cx="992464" cy="992464"/>
            <a:chOff x="0" y="0"/>
            <a:chExt cx="992462" cy="992462"/>
          </a:xfrm>
        </p:grpSpPr>
        <p:sp>
          <p:nvSpPr>
            <p:cNvPr id="106" name="Freeform 10"/>
            <p:cNvSpPr/>
            <p:nvPr/>
          </p:nvSpPr>
          <p:spPr>
            <a:xfrm>
              <a:off x="0" y="0"/>
              <a:ext cx="992463" cy="992463"/>
            </a:xfrm>
            <a:prstGeom prst="ellipse">
              <a:avLst/>
            </a:prstGeom>
            <a:solidFill>
              <a:srgbClr val="FD622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07" name="TextBox 11"/>
            <p:cNvSpPr txBox="1"/>
            <p:nvPr/>
          </p:nvSpPr>
          <p:spPr>
            <a:xfrm>
              <a:off x="93043" y="183149"/>
              <a:ext cx="806377" cy="5563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3700"/>
                </a:lnSpc>
                <a:defRPr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1</a:t>
              </a:r>
            </a:p>
          </p:txBody>
        </p:sp>
      </p:grpSp>
      <p:grpSp>
        <p:nvGrpSpPr>
          <p:cNvPr id="111" name="Group 12"/>
          <p:cNvGrpSpPr/>
          <p:nvPr/>
        </p:nvGrpSpPr>
        <p:grpSpPr>
          <a:xfrm>
            <a:off x="948235" y="4447339"/>
            <a:ext cx="508159" cy="543806"/>
            <a:chOff x="0" y="0"/>
            <a:chExt cx="508157" cy="543804"/>
          </a:xfrm>
        </p:grpSpPr>
        <p:sp>
          <p:nvSpPr>
            <p:cNvPr id="109" name="Freeform 13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10" name="TextBox 14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4</a:t>
              </a:r>
            </a:p>
          </p:txBody>
        </p:sp>
      </p:grpSp>
      <p:grpSp>
        <p:nvGrpSpPr>
          <p:cNvPr id="114" name="Group 15"/>
          <p:cNvGrpSpPr/>
          <p:nvPr/>
        </p:nvGrpSpPr>
        <p:grpSpPr>
          <a:xfrm>
            <a:off x="948235" y="3107362"/>
            <a:ext cx="508159" cy="543806"/>
            <a:chOff x="0" y="0"/>
            <a:chExt cx="508157" cy="543804"/>
          </a:xfrm>
        </p:grpSpPr>
        <p:sp>
          <p:nvSpPr>
            <p:cNvPr id="112" name="Freeform 16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13" name="TextBox 17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2</a:t>
              </a:r>
            </a:p>
          </p:txBody>
        </p:sp>
      </p:grpSp>
      <p:grpSp>
        <p:nvGrpSpPr>
          <p:cNvPr id="117" name="Group 18"/>
          <p:cNvGrpSpPr/>
          <p:nvPr/>
        </p:nvGrpSpPr>
        <p:grpSpPr>
          <a:xfrm>
            <a:off x="948235" y="5115752"/>
            <a:ext cx="508159" cy="543806"/>
            <a:chOff x="0" y="0"/>
            <a:chExt cx="508157" cy="543804"/>
          </a:xfrm>
        </p:grpSpPr>
        <p:sp>
          <p:nvSpPr>
            <p:cNvPr id="115" name="Freeform 19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16" name="TextBox 20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5</a:t>
              </a:r>
            </a:p>
          </p:txBody>
        </p:sp>
      </p:grpSp>
      <p:grpSp>
        <p:nvGrpSpPr>
          <p:cNvPr id="120" name="Group 21"/>
          <p:cNvGrpSpPr/>
          <p:nvPr/>
        </p:nvGrpSpPr>
        <p:grpSpPr>
          <a:xfrm>
            <a:off x="948235" y="3776486"/>
            <a:ext cx="508159" cy="543806"/>
            <a:chOff x="0" y="0"/>
            <a:chExt cx="508157" cy="543804"/>
          </a:xfrm>
        </p:grpSpPr>
        <p:sp>
          <p:nvSpPr>
            <p:cNvPr id="118" name="Freeform 22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19" name="TextBox 23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3</a:t>
              </a:r>
            </a:p>
          </p:txBody>
        </p:sp>
      </p:grpSp>
      <p:grpSp>
        <p:nvGrpSpPr>
          <p:cNvPr id="123" name="Group 24"/>
          <p:cNvGrpSpPr/>
          <p:nvPr/>
        </p:nvGrpSpPr>
        <p:grpSpPr>
          <a:xfrm>
            <a:off x="948235" y="6455729"/>
            <a:ext cx="508159" cy="543806"/>
            <a:chOff x="0" y="0"/>
            <a:chExt cx="508157" cy="543804"/>
          </a:xfrm>
        </p:grpSpPr>
        <p:sp>
          <p:nvSpPr>
            <p:cNvPr id="121" name="Freeform 25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22" name="TextBox 26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7</a:t>
              </a:r>
            </a:p>
          </p:txBody>
        </p:sp>
      </p:grpSp>
      <p:grpSp>
        <p:nvGrpSpPr>
          <p:cNvPr id="126" name="Group 27"/>
          <p:cNvGrpSpPr/>
          <p:nvPr/>
        </p:nvGrpSpPr>
        <p:grpSpPr>
          <a:xfrm>
            <a:off x="948235" y="5784877"/>
            <a:ext cx="508159" cy="543806"/>
            <a:chOff x="0" y="0"/>
            <a:chExt cx="508157" cy="543804"/>
          </a:xfrm>
        </p:grpSpPr>
        <p:sp>
          <p:nvSpPr>
            <p:cNvPr id="124" name="Freeform 28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25" name="TextBox 29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6</a:t>
              </a:r>
            </a:p>
          </p:txBody>
        </p:sp>
      </p:grpSp>
      <p:grpSp>
        <p:nvGrpSpPr>
          <p:cNvPr id="129" name="Group 36"/>
          <p:cNvGrpSpPr/>
          <p:nvPr/>
        </p:nvGrpSpPr>
        <p:grpSpPr>
          <a:xfrm>
            <a:off x="948235" y="7123361"/>
            <a:ext cx="508159" cy="543806"/>
            <a:chOff x="0" y="0"/>
            <a:chExt cx="508157" cy="543804"/>
          </a:xfrm>
        </p:grpSpPr>
        <p:sp>
          <p:nvSpPr>
            <p:cNvPr id="127" name="Freeform 37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28" name="TextBox 38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8</a:t>
              </a:r>
            </a:p>
          </p:txBody>
        </p:sp>
      </p:grpSp>
      <p:grpSp>
        <p:nvGrpSpPr>
          <p:cNvPr id="132" name="Group 39"/>
          <p:cNvGrpSpPr/>
          <p:nvPr/>
        </p:nvGrpSpPr>
        <p:grpSpPr>
          <a:xfrm>
            <a:off x="948235" y="7790991"/>
            <a:ext cx="508159" cy="543806"/>
            <a:chOff x="0" y="0"/>
            <a:chExt cx="508157" cy="543804"/>
          </a:xfrm>
        </p:grpSpPr>
        <p:sp>
          <p:nvSpPr>
            <p:cNvPr id="130" name="Freeform 40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31" name="TextBox 41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9</a:t>
              </a:r>
            </a:p>
          </p:txBody>
        </p:sp>
      </p:grpSp>
      <p:sp>
        <p:nvSpPr>
          <p:cNvPr id="133" name="TextBox 1"/>
          <p:cNvSpPr txBox="1"/>
          <p:nvPr/>
        </p:nvSpPr>
        <p:spPr>
          <a:xfrm>
            <a:off x="198119" y="342899"/>
            <a:ext cx="18044162" cy="7640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4800" b="1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INTRODUCTION</a:t>
            </a:r>
          </a:p>
        </p:txBody>
      </p:sp>
      <p:sp>
        <p:nvSpPr>
          <p:cNvPr id="134" name="TextBox 2"/>
          <p:cNvSpPr txBox="1"/>
          <p:nvPr/>
        </p:nvSpPr>
        <p:spPr>
          <a:xfrm>
            <a:off x="2255520" y="2072004"/>
            <a:ext cx="14991080" cy="87100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marL="457200" indent="-457200">
              <a:buSzPct val="100000"/>
              <a:buFont typeface="Wingdings" panose="05000000000000000000" pitchFamily="2" charset="2"/>
              <a:buChar char="§"/>
              <a:defRPr sz="2800"/>
            </a:pPr>
            <a:r>
              <a:rPr lang="en-US" dirty="0"/>
              <a:t>A Job Portal Management System is a web-based application designed to connect job seekers and employers.</a:t>
            </a:r>
          </a:p>
          <a:p>
            <a:pPr marL="457200" indent="-457200">
              <a:buSzPct val="100000"/>
              <a:buFont typeface="Wingdings" panose="05000000000000000000" pitchFamily="2" charset="2"/>
              <a:buChar char="§"/>
              <a:defRPr sz="2800"/>
            </a:pPr>
            <a:r>
              <a:rPr lang="en-US" dirty="0"/>
              <a:t>It provides a centralized platform for managing job postings and applications efficiently.</a:t>
            </a:r>
            <a:br>
              <a:rPr lang="en-US" dirty="0"/>
            </a:br>
            <a:r>
              <a:rPr lang="en-US" dirty="0"/>
              <a:t>Users can create profiles, upload resumes, and search for jobs based on various criteria.</a:t>
            </a:r>
          </a:p>
          <a:p>
            <a:pPr marL="457200" indent="-457200">
              <a:buSzPct val="100000"/>
              <a:buFont typeface="Wingdings" panose="05000000000000000000" pitchFamily="2" charset="2"/>
              <a:buChar char="§"/>
              <a:defRPr sz="2800"/>
            </a:pPr>
            <a:r>
              <a:rPr lang="en-US" dirty="0"/>
              <a:t>Employers can post job vacancies and review applications from candidates.</a:t>
            </a:r>
          </a:p>
          <a:p>
            <a:pPr marL="457200" indent="-457200">
              <a:buSzPct val="100000"/>
              <a:buFont typeface="Wingdings" panose="05000000000000000000" pitchFamily="2" charset="2"/>
              <a:buChar char="§"/>
              <a:defRPr sz="2800"/>
            </a:pPr>
            <a:r>
              <a:rPr lang="en-US" dirty="0"/>
              <a:t>The system simplifies the recruitment process by automating manual tasks.</a:t>
            </a:r>
            <a:br>
              <a:rPr lang="en-US" dirty="0"/>
            </a:br>
            <a:r>
              <a:rPr lang="en-US" dirty="0"/>
              <a:t>It helps in reducing time and effort involved in hiring and job searching.</a:t>
            </a:r>
          </a:p>
          <a:p>
            <a:pPr marL="457200" indent="-457200">
              <a:buSzPct val="100000"/>
              <a:buFont typeface="Wingdings" panose="05000000000000000000" pitchFamily="2" charset="2"/>
              <a:buChar char="§"/>
              <a:defRPr sz="2800"/>
            </a:pPr>
            <a:r>
              <a:rPr lang="en-US" dirty="0"/>
              <a:t>The platform supports filtering jobs by location, skills, and experience.</a:t>
            </a:r>
            <a:br>
              <a:rPr lang="en-US" dirty="0"/>
            </a:br>
            <a:r>
              <a:rPr lang="en-US" dirty="0"/>
              <a:t>It also allows tracking of application status in real time.</a:t>
            </a:r>
          </a:p>
          <a:p>
            <a:pPr marL="457200" indent="-457200">
              <a:buSzPct val="100000"/>
              <a:buFont typeface="Wingdings" panose="05000000000000000000" pitchFamily="2" charset="2"/>
              <a:buChar char="§"/>
              <a:defRPr sz="2800"/>
            </a:pPr>
            <a:r>
              <a:rPr lang="en-US" dirty="0"/>
              <a:t>With secure login features, user data is protected and managed effectively.</a:t>
            </a:r>
          </a:p>
          <a:p>
            <a:pPr marL="457200" indent="-457200">
              <a:buSzPct val="100000"/>
              <a:buFont typeface="Wingdings" panose="05000000000000000000" pitchFamily="2" charset="2"/>
              <a:buChar char="§"/>
              <a:defRPr sz="2800"/>
            </a:pPr>
            <a:r>
              <a:rPr lang="en-US" dirty="0"/>
              <a:t>Overall, the system enhances communication between employers and job seekers.</a:t>
            </a:r>
          </a:p>
          <a:p>
            <a:pPr marL="457200" indent="-457200">
              <a:buSzPct val="100000"/>
              <a:buFont typeface="Wingdings" panose="05000000000000000000" pitchFamily="2" charset="2"/>
              <a:buChar char="§"/>
              <a:defRPr sz="2800"/>
            </a:pPr>
            <a:endParaRPr dirty="0"/>
          </a:p>
          <a:p>
            <a:pPr marL="457200" indent="-457200">
              <a:buSzPct val="100000"/>
              <a:buChar char="-"/>
              <a:defRPr sz="2800"/>
            </a:pPr>
            <a:endParaRPr dirty="0"/>
          </a:p>
          <a:p>
            <a:pPr marL="457200" indent="-457200">
              <a:buSzPct val="100000"/>
              <a:buChar char="-"/>
              <a:defRPr sz="2800"/>
            </a:pPr>
            <a:endParaRPr dirty="0"/>
          </a:p>
          <a:p>
            <a:pPr marL="457200" indent="-457200">
              <a:buSzPct val="100000"/>
              <a:buChar char="-"/>
              <a:defRPr sz="2800"/>
            </a:pPr>
            <a:endParaRPr dirty="0"/>
          </a:p>
          <a:p>
            <a:pPr marL="457200" indent="-457200">
              <a:buSzPct val="100000"/>
              <a:buChar char="-"/>
              <a:defRPr sz="2800"/>
            </a:pPr>
            <a:endParaRPr dirty="0"/>
          </a:p>
          <a:p>
            <a:pPr marL="457200" indent="-457200">
              <a:buSzPct val="100000"/>
              <a:buChar char="-"/>
              <a:defRPr sz="2800"/>
            </a:pPr>
            <a:endParaRPr dirty="0"/>
          </a:p>
          <a:p>
            <a:pPr marL="457200" indent="-457200">
              <a:buSzPct val="100000"/>
              <a:buChar char="-"/>
              <a:defRPr sz="2800"/>
            </a:pPr>
            <a:endParaRPr dirty="0"/>
          </a:p>
          <a:p>
            <a:pPr marL="457200" indent="-457200">
              <a:buSzPct val="100000"/>
              <a:buChar char="-"/>
              <a:defRPr sz="2800"/>
            </a:pPr>
            <a:endParaRPr dirty="0"/>
          </a:p>
          <a:p>
            <a:pPr marL="457200" indent="-457200">
              <a:buSzPct val="100000"/>
              <a:buChar char="-"/>
              <a:defRPr sz="2800"/>
            </a:pPr>
            <a:endParaRPr dirty="0"/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Freeform 10"/>
          <p:cNvSpPr/>
          <p:nvPr/>
        </p:nvSpPr>
        <p:spPr>
          <a:xfrm>
            <a:off x="16313419" y="910464"/>
            <a:ext cx="945881" cy="236471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grpSp>
        <p:nvGrpSpPr>
          <p:cNvPr id="139" name="Group 11"/>
          <p:cNvGrpSpPr/>
          <p:nvPr/>
        </p:nvGrpSpPr>
        <p:grpSpPr>
          <a:xfrm>
            <a:off x="709356" y="2648112"/>
            <a:ext cx="992464" cy="992463"/>
            <a:chOff x="0" y="0"/>
            <a:chExt cx="992462" cy="992462"/>
          </a:xfrm>
        </p:grpSpPr>
        <p:sp>
          <p:nvSpPr>
            <p:cNvPr id="137" name="Freeform 12"/>
            <p:cNvSpPr/>
            <p:nvPr/>
          </p:nvSpPr>
          <p:spPr>
            <a:xfrm>
              <a:off x="0" y="0"/>
              <a:ext cx="992463" cy="992463"/>
            </a:xfrm>
            <a:prstGeom prst="ellipse">
              <a:avLst/>
            </a:prstGeom>
            <a:solidFill>
              <a:srgbClr val="FD622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38" name="TextBox 13"/>
            <p:cNvSpPr txBox="1"/>
            <p:nvPr/>
          </p:nvSpPr>
          <p:spPr>
            <a:xfrm>
              <a:off x="93043" y="183149"/>
              <a:ext cx="806377" cy="5563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3700"/>
                </a:lnSpc>
                <a:defRPr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2</a:t>
              </a:r>
            </a:p>
          </p:txBody>
        </p:sp>
      </p:grpSp>
      <p:grpSp>
        <p:nvGrpSpPr>
          <p:cNvPr id="142" name="Group 14"/>
          <p:cNvGrpSpPr/>
          <p:nvPr/>
        </p:nvGrpSpPr>
        <p:grpSpPr>
          <a:xfrm>
            <a:off x="951508" y="4428295"/>
            <a:ext cx="508159" cy="543806"/>
            <a:chOff x="0" y="0"/>
            <a:chExt cx="508157" cy="543804"/>
          </a:xfrm>
        </p:grpSpPr>
        <p:sp>
          <p:nvSpPr>
            <p:cNvPr id="140" name="Freeform 15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41" name="TextBox 16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4</a:t>
              </a:r>
            </a:p>
          </p:txBody>
        </p:sp>
      </p:grpSp>
      <p:grpSp>
        <p:nvGrpSpPr>
          <p:cNvPr id="145" name="Group 17"/>
          <p:cNvGrpSpPr/>
          <p:nvPr/>
        </p:nvGrpSpPr>
        <p:grpSpPr>
          <a:xfrm>
            <a:off x="951508" y="1982348"/>
            <a:ext cx="508159" cy="543806"/>
            <a:chOff x="0" y="0"/>
            <a:chExt cx="508157" cy="543804"/>
          </a:xfrm>
        </p:grpSpPr>
        <p:sp>
          <p:nvSpPr>
            <p:cNvPr id="143" name="Freeform 18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44" name="TextBox 19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1</a:t>
              </a:r>
            </a:p>
          </p:txBody>
        </p:sp>
      </p:grpSp>
      <p:grpSp>
        <p:nvGrpSpPr>
          <p:cNvPr id="148" name="Group 20"/>
          <p:cNvGrpSpPr/>
          <p:nvPr/>
        </p:nvGrpSpPr>
        <p:grpSpPr>
          <a:xfrm>
            <a:off x="951508" y="5094058"/>
            <a:ext cx="508159" cy="543806"/>
            <a:chOff x="0" y="0"/>
            <a:chExt cx="508157" cy="543804"/>
          </a:xfrm>
        </p:grpSpPr>
        <p:sp>
          <p:nvSpPr>
            <p:cNvPr id="146" name="Freeform 21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47" name="TextBox 22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5</a:t>
              </a:r>
            </a:p>
          </p:txBody>
        </p:sp>
      </p:grpSp>
      <p:grpSp>
        <p:nvGrpSpPr>
          <p:cNvPr id="151" name="Group 23"/>
          <p:cNvGrpSpPr/>
          <p:nvPr/>
        </p:nvGrpSpPr>
        <p:grpSpPr>
          <a:xfrm>
            <a:off x="951508" y="3762533"/>
            <a:ext cx="508159" cy="543806"/>
            <a:chOff x="0" y="0"/>
            <a:chExt cx="508157" cy="543804"/>
          </a:xfrm>
        </p:grpSpPr>
        <p:sp>
          <p:nvSpPr>
            <p:cNvPr id="149" name="Freeform 24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50" name="TextBox 25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3</a:t>
              </a:r>
            </a:p>
          </p:txBody>
        </p:sp>
      </p:grpSp>
      <p:grpSp>
        <p:nvGrpSpPr>
          <p:cNvPr id="154" name="Group 26"/>
          <p:cNvGrpSpPr/>
          <p:nvPr/>
        </p:nvGrpSpPr>
        <p:grpSpPr>
          <a:xfrm>
            <a:off x="951508" y="6425584"/>
            <a:ext cx="508159" cy="543806"/>
            <a:chOff x="0" y="0"/>
            <a:chExt cx="508157" cy="543804"/>
          </a:xfrm>
        </p:grpSpPr>
        <p:sp>
          <p:nvSpPr>
            <p:cNvPr id="152" name="Freeform 27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53" name="TextBox 28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7</a:t>
              </a:r>
            </a:p>
          </p:txBody>
        </p:sp>
      </p:grpSp>
      <p:grpSp>
        <p:nvGrpSpPr>
          <p:cNvPr id="157" name="Group 29"/>
          <p:cNvGrpSpPr/>
          <p:nvPr/>
        </p:nvGrpSpPr>
        <p:grpSpPr>
          <a:xfrm>
            <a:off x="951508" y="5759822"/>
            <a:ext cx="508159" cy="543806"/>
            <a:chOff x="0" y="0"/>
            <a:chExt cx="508157" cy="543804"/>
          </a:xfrm>
        </p:grpSpPr>
        <p:sp>
          <p:nvSpPr>
            <p:cNvPr id="155" name="Freeform 30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56" name="TextBox 31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6</a:t>
              </a:r>
            </a:p>
          </p:txBody>
        </p:sp>
      </p:grpSp>
      <p:grpSp>
        <p:nvGrpSpPr>
          <p:cNvPr id="160" name="Group 36"/>
          <p:cNvGrpSpPr/>
          <p:nvPr/>
        </p:nvGrpSpPr>
        <p:grpSpPr>
          <a:xfrm>
            <a:off x="951508" y="7093215"/>
            <a:ext cx="508159" cy="543806"/>
            <a:chOff x="0" y="0"/>
            <a:chExt cx="508157" cy="543804"/>
          </a:xfrm>
        </p:grpSpPr>
        <p:sp>
          <p:nvSpPr>
            <p:cNvPr id="158" name="Freeform 37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59" name="TextBox 38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8</a:t>
              </a:r>
            </a:p>
          </p:txBody>
        </p:sp>
      </p:grpSp>
      <p:grpSp>
        <p:nvGrpSpPr>
          <p:cNvPr id="163" name="Group 39"/>
          <p:cNvGrpSpPr/>
          <p:nvPr/>
        </p:nvGrpSpPr>
        <p:grpSpPr>
          <a:xfrm>
            <a:off x="951508" y="7760845"/>
            <a:ext cx="508159" cy="543806"/>
            <a:chOff x="0" y="0"/>
            <a:chExt cx="508157" cy="543804"/>
          </a:xfrm>
        </p:grpSpPr>
        <p:sp>
          <p:nvSpPr>
            <p:cNvPr id="161" name="Freeform 40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62" name="TextBox 41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9</a:t>
              </a:r>
            </a:p>
          </p:txBody>
        </p:sp>
      </p:grpSp>
      <p:sp>
        <p:nvSpPr>
          <p:cNvPr id="164" name="TextBox 46"/>
          <p:cNvSpPr txBox="1"/>
          <p:nvPr/>
        </p:nvSpPr>
        <p:spPr>
          <a:xfrm>
            <a:off x="198119" y="342899"/>
            <a:ext cx="17815562" cy="7640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4800" b="1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PROBLEM STATEMENT</a:t>
            </a:r>
          </a:p>
        </p:txBody>
      </p:sp>
      <p:sp>
        <p:nvSpPr>
          <p:cNvPr id="165" name="TextBox 47"/>
          <p:cNvSpPr txBox="1"/>
          <p:nvPr/>
        </p:nvSpPr>
        <p:spPr>
          <a:xfrm>
            <a:off x="2263515" y="1843790"/>
            <a:ext cx="16024485" cy="100027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 marL="457200" indent="-457200">
              <a:buSzPct val="100000"/>
              <a:buFont typeface="Wingdings" panose="05000000000000000000" pitchFamily="2" charset="2"/>
              <a:buChar char="Ø"/>
              <a:defRPr sz="2800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traditional job recruitment systems, most processes are manual and inefficient.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Job seekers often struggle to find relevant job opportunities in one place.</a:t>
            </a:r>
          </a:p>
          <a:p>
            <a:pPr marL="457200" indent="-457200">
              <a:buSzPct val="100000"/>
              <a:buFont typeface="Wingdings" panose="05000000000000000000" pitchFamily="2" charset="2"/>
              <a:buChar char="Ø"/>
              <a:defRPr sz="2800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Employers face difficulties in managing a large number of applications.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no centralized system to store and track job-related data.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handling of resumes leads to delays and errors.</a:t>
            </a:r>
          </a:p>
          <a:p>
            <a:pPr marL="457200" indent="-457200">
              <a:buSzPct val="100000"/>
              <a:buFont typeface="Wingdings" panose="05000000000000000000" pitchFamily="2" charset="2"/>
              <a:buChar char="Ø"/>
              <a:defRPr sz="2800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between employers and candidates is often slow and unclear.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Applicants do not receive timely updates about their application status.</a:t>
            </a:r>
          </a:p>
          <a:p>
            <a:pPr marL="457200" indent="-457200">
              <a:buSzPct val="100000"/>
              <a:buFont typeface="Wingdings" panose="05000000000000000000" pitchFamily="2" charset="2"/>
              <a:buChar char="Ø"/>
              <a:defRPr sz="2800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Searching for jobs based on skills, location, or experience is limited.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Recruiters spend more time sorting and filtering candidates manually.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 lack automation and real-time updates.</a:t>
            </a:r>
          </a:p>
          <a:p>
            <a:pPr marL="457200" indent="-457200">
              <a:buSzPct val="100000"/>
              <a:buFont typeface="Wingdings" panose="05000000000000000000" pitchFamily="2" charset="2"/>
              <a:buChar char="Ø"/>
              <a:defRPr sz="2800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management becomes complex as the number of users increases.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risk of data loss and duplication in manual systems.</a:t>
            </a:r>
          </a:p>
          <a:p>
            <a:pPr marL="457200" indent="-457200">
              <a:buSzPct val="100000"/>
              <a:buFont typeface="Wingdings" panose="05000000000000000000" pitchFamily="2" charset="2"/>
              <a:buChar char="Ø"/>
              <a:defRPr sz="2800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of user information is often not properly maintained.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absence of a user-friendly interface reduces system usability.</a:t>
            </a:r>
          </a:p>
          <a:p>
            <a:pPr marL="457200" indent="-457200">
              <a:buSzPct val="100000"/>
              <a:buFont typeface="Wingdings" panose="05000000000000000000" pitchFamily="2" charset="2"/>
              <a:buChar char="Ø"/>
              <a:defRPr sz="2800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there is a need for an efficient, automated Job Portal Management System.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SzPct val="100000"/>
              <a:buFont typeface="Wingdings" panose="05000000000000000000" pitchFamily="2" charset="2"/>
              <a:buChar char="Ø"/>
              <a:defRPr sz="2800"/>
            </a:pP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SzPct val="100000"/>
              <a:buChar char="-"/>
              <a:defRPr sz="2800"/>
            </a:pPr>
            <a:endParaRPr dirty="0"/>
          </a:p>
          <a:p>
            <a:pPr marL="457200" indent="-457200">
              <a:buSzPct val="100000"/>
              <a:buChar char="-"/>
              <a:defRPr sz="2800"/>
            </a:pPr>
            <a:endParaRPr dirty="0"/>
          </a:p>
          <a:p>
            <a:pPr marL="457200" indent="-457200">
              <a:buSzPct val="100000"/>
              <a:buChar char="-"/>
              <a:defRPr sz="2800"/>
            </a:pPr>
            <a:endParaRPr dirty="0"/>
          </a:p>
          <a:p>
            <a:pPr marL="457200" indent="-457200">
              <a:buSzPct val="100000"/>
              <a:buChar char="-"/>
              <a:defRPr sz="2800"/>
            </a:pPr>
            <a:endParaRPr dirty="0"/>
          </a:p>
          <a:p>
            <a:pPr marL="457200" indent="-457200">
              <a:buSzPct val="100000"/>
              <a:buChar char="-"/>
              <a:defRPr sz="2800"/>
            </a:pPr>
            <a:endParaRPr dirty="0"/>
          </a:p>
          <a:p>
            <a:pPr marL="457200" indent="-457200">
              <a:buSzPct val="100000"/>
              <a:buChar char="-"/>
              <a:defRPr sz="2800"/>
            </a:pPr>
            <a:endParaRPr dirty="0"/>
          </a:p>
          <a:p>
            <a:pPr marL="457200" indent="-457200">
              <a:buSzPct val="100000"/>
              <a:buChar char="-"/>
              <a:defRPr sz="2800"/>
            </a:pPr>
            <a:endParaRPr dirty="0"/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9" name="Group 7"/>
          <p:cNvGrpSpPr/>
          <p:nvPr/>
        </p:nvGrpSpPr>
        <p:grpSpPr>
          <a:xfrm>
            <a:off x="709356" y="3315742"/>
            <a:ext cx="992464" cy="992464"/>
            <a:chOff x="0" y="0"/>
            <a:chExt cx="992462" cy="992462"/>
          </a:xfrm>
        </p:grpSpPr>
        <p:sp>
          <p:nvSpPr>
            <p:cNvPr id="167" name="Freeform 8"/>
            <p:cNvSpPr/>
            <p:nvPr/>
          </p:nvSpPr>
          <p:spPr>
            <a:xfrm>
              <a:off x="0" y="0"/>
              <a:ext cx="992463" cy="992463"/>
            </a:xfrm>
            <a:prstGeom prst="ellipse">
              <a:avLst/>
            </a:prstGeom>
            <a:solidFill>
              <a:srgbClr val="FD622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68" name="TextBox 9"/>
            <p:cNvSpPr txBox="1"/>
            <p:nvPr/>
          </p:nvSpPr>
          <p:spPr>
            <a:xfrm>
              <a:off x="93043" y="183149"/>
              <a:ext cx="806377" cy="5563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3700"/>
                </a:lnSpc>
                <a:defRPr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3</a:t>
              </a:r>
            </a:p>
          </p:txBody>
        </p:sp>
      </p:grpSp>
      <p:grpSp>
        <p:nvGrpSpPr>
          <p:cNvPr id="172" name="Group 10"/>
          <p:cNvGrpSpPr/>
          <p:nvPr/>
        </p:nvGrpSpPr>
        <p:grpSpPr>
          <a:xfrm>
            <a:off x="951508" y="4428295"/>
            <a:ext cx="508159" cy="543806"/>
            <a:chOff x="0" y="0"/>
            <a:chExt cx="508157" cy="543804"/>
          </a:xfrm>
        </p:grpSpPr>
        <p:sp>
          <p:nvSpPr>
            <p:cNvPr id="170" name="Freeform 11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71" name="TextBox 12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4</a:t>
              </a:r>
            </a:p>
          </p:txBody>
        </p:sp>
      </p:grpSp>
      <p:grpSp>
        <p:nvGrpSpPr>
          <p:cNvPr id="175" name="Group 13"/>
          <p:cNvGrpSpPr/>
          <p:nvPr/>
        </p:nvGrpSpPr>
        <p:grpSpPr>
          <a:xfrm>
            <a:off x="951508" y="1982348"/>
            <a:ext cx="508159" cy="543806"/>
            <a:chOff x="0" y="0"/>
            <a:chExt cx="508157" cy="543804"/>
          </a:xfrm>
        </p:grpSpPr>
        <p:sp>
          <p:nvSpPr>
            <p:cNvPr id="173" name="Freeform 14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74" name="TextBox 15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1</a:t>
              </a:r>
            </a:p>
          </p:txBody>
        </p:sp>
      </p:grpSp>
      <p:grpSp>
        <p:nvGrpSpPr>
          <p:cNvPr id="178" name="Group 16"/>
          <p:cNvGrpSpPr/>
          <p:nvPr/>
        </p:nvGrpSpPr>
        <p:grpSpPr>
          <a:xfrm>
            <a:off x="951508" y="5094058"/>
            <a:ext cx="508159" cy="543806"/>
            <a:chOff x="0" y="0"/>
            <a:chExt cx="508157" cy="543804"/>
          </a:xfrm>
        </p:grpSpPr>
        <p:sp>
          <p:nvSpPr>
            <p:cNvPr id="176" name="Freeform 17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77" name="TextBox 18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5</a:t>
              </a:r>
            </a:p>
          </p:txBody>
        </p:sp>
      </p:grpSp>
      <p:grpSp>
        <p:nvGrpSpPr>
          <p:cNvPr id="181" name="Group 19"/>
          <p:cNvGrpSpPr/>
          <p:nvPr/>
        </p:nvGrpSpPr>
        <p:grpSpPr>
          <a:xfrm>
            <a:off x="951508" y="2648112"/>
            <a:ext cx="508159" cy="543806"/>
            <a:chOff x="0" y="0"/>
            <a:chExt cx="508157" cy="543804"/>
          </a:xfrm>
        </p:grpSpPr>
        <p:sp>
          <p:nvSpPr>
            <p:cNvPr id="179" name="Freeform 20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80" name="TextBox 21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2</a:t>
              </a:r>
            </a:p>
          </p:txBody>
        </p:sp>
      </p:grpSp>
      <p:grpSp>
        <p:nvGrpSpPr>
          <p:cNvPr id="184" name="Group 22"/>
          <p:cNvGrpSpPr/>
          <p:nvPr/>
        </p:nvGrpSpPr>
        <p:grpSpPr>
          <a:xfrm>
            <a:off x="951508" y="6425584"/>
            <a:ext cx="508159" cy="543806"/>
            <a:chOff x="0" y="0"/>
            <a:chExt cx="508157" cy="543804"/>
          </a:xfrm>
        </p:grpSpPr>
        <p:sp>
          <p:nvSpPr>
            <p:cNvPr id="182" name="Freeform 23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83" name="TextBox 24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7</a:t>
              </a:r>
            </a:p>
          </p:txBody>
        </p:sp>
      </p:grpSp>
      <p:grpSp>
        <p:nvGrpSpPr>
          <p:cNvPr id="187" name="Group 25"/>
          <p:cNvGrpSpPr/>
          <p:nvPr/>
        </p:nvGrpSpPr>
        <p:grpSpPr>
          <a:xfrm>
            <a:off x="951508" y="5759822"/>
            <a:ext cx="508159" cy="543806"/>
            <a:chOff x="0" y="0"/>
            <a:chExt cx="508157" cy="543804"/>
          </a:xfrm>
        </p:grpSpPr>
        <p:sp>
          <p:nvSpPr>
            <p:cNvPr id="185" name="Freeform 26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86" name="TextBox 27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6</a:t>
              </a:r>
            </a:p>
          </p:txBody>
        </p:sp>
      </p:grpSp>
      <p:grpSp>
        <p:nvGrpSpPr>
          <p:cNvPr id="190" name="Group 41"/>
          <p:cNvGrpSpPr/>
          <p:nvPr/>
        </p:nvGrpSpPr>
        <p:grpSpPr>
          <a:xfrm>
            <a:off x="951508" y="7093215"/>
            <a:ext cx="508159" cy="543806"/>
            <a:chOff x="0" y="0"/>
            <a:chExt cx="508157" cy="543804"/>
          </a:xfrm>
        </p:grpSpPr>
        <p:sp>
          <p:nvSpPr>
            <p:cNvPr id="188" name="Freeform 42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89" name="TextBox 43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8</a:t>
              </a:r>
            </a:p>
          </p:txBody>
        </p:sp>
      </p:grpSp>
      <p:grpSp>
        <p:nvGrpSpPr>
          <p:cNvPr id="193" name="Group 44"/>
          <p:cNvGrpSpPr/>
          <p:nvPr/>
        </p:nvGrpSpPr>
        <p:grpSpPr>
          <a:xfrm>
            <a:off x="951508" y="7760845"/>
            <a:ext cx="508159" cy="543806"/>
            <a:chOff x="0" y="0"/>
            <a:chExt cx="508157" cy="543804"/>
          </a:xfrm>
        </p:grpSpPr>
        <p:sp>
          <p:nvSpPr>
            <p:cNvPr id="191" name="Freeform 45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92" name="TextBox 46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9</a:t>
              </a:r>
            </a:p>
          </p:txBody>
        </p:sp>
      </p:grpSp>
      <p:sp>
        <p:nvSpPr>
          <p:cNvPr id="194" name="TextBox 49"/>
          <p:cNvSpPr txBox="1"/>
          <p:nvPr/>
        </p:nvSpPr>
        <p:spPr>
          <a:xfrm>
            <a:off x="198119" y="342899"/>
            <a:ext cx="17815562" cy="7640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4800" b="1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OBJECTIVE(S)</a:t>
            </a:r>
          </a:p>
        </p:txBody>
      </p:sp>
      <p:sp>
        <p:nvSpPr>
          <p:cNvPr id="195" name="Freeform 10"/>
          <p:cNvSpPr/>
          <p:nvPr/>
        </p:nvSpPr>
        <p:spPr>
          <a:xfrm>
            <a:off x="16313419" y="910464"/>
            <a:ext cx="945881" cy="236471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" name="TextBox 51"/>
          <p:cNvSpPr txBox="1"/>
          <p:nvPr/>
        </p:nvSpPr>
        <p:spPr>
          <a:xfrm>
            <a:off x="2255520" y="2185035"/>
            <a:ext cx="14991080" cy="7078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marL="457200" indent="-457200">
              <a:buSzPct val="100000"/>
              <a:buChar char="-"/>
              <a:defRPr sz="4000"/>
            </a:pPr>
            <a:endParaRPr dirty="0"/>
          </a:p>
        </p:txBody>
      </p:sp>
      <p:sp>
        <p:nvSpPr>
          <p:cNvPr id="5" name="TextBox 51">
            <a:extLst>
              <a:ext uri="{FF2B5EF4-FFF2-40B4-BE49-F238E27FC236}">
                <a16:creationId xmlns:a16="http://schemas.microsoft.com/office/drawing/2014/main" id="{3C9DA653-BEF7-11B9-37F3-2CD1A840972A}"/>
              </a:ext>
            </a:extLst>
          </p:cNvPr>
          <p:cNvSpPr txBox="1"/>
          <p:nvPr/>
        </p:nvSpPr>
        <p:spPr>
          <a:xfrm>
            <a:off x="2407920" y="2337435"/>
            <a:ext cx="14991080" cy="7078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marL="457200" indent="-457200">
              <a:buSzPct val="100000"/>
              <a:buChar char="-"/>
              <a:defRPr sz="4000"/>
            </a:pPr>
            <a:endParaRPr dirty="0"/>
          </a:p>
        </p:txBody>
      </p:sp>
      <p:sp>
        <p:nvSpPr>
          <p:cNvPr id="6" name="TextBox 51">
            <a:extLst>
              <a:ext uri="{FF2B5EF4-FFF2-40B4-BE49-F238E27FC236}">
                <a16:creationId xmlns:a16="http://schemas.microsoft.com/office/drawing/2014/main" id="{C298F16B-FD0D-D3A1-4941-E6A767007A7B}"/>
              </a:ext>
            </a:extLst>
          </p:cNvPr>
          <p:cNvSpPr txBox="1"/>
          <p:nvPr/>
        </p:nvSpPr>
        <p:spPr>
          <a:xfrm>
            <a:off x="2560320" y="2489835"/>
            <a:ext cx="14991080" cy="7078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marL="457200" indent="-457200">
              <a:buSzPct val="100000"/>
              <a:buChar char="-"/>
              <a:defRPr sz="4000"/>
            </a:pPr>
            <a:endParaRPr dirty="0"/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B05604C8-8A08-CEF1-3129-F6E9B97272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5520" y="1513370"/>
            <a:ext cx="13303518" cy="67710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Here are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clear Objectives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your </a:t>
            </a:r>
            <a:r>
              <a:rPr kumimoji="0" lang="en-US" altLang="en-US" sz="3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Job Portal Management System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Objectives: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web-based platform that connects job seekers and employers.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provide user registration and secure login functionality.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enable job seekers to create profiles and upload resumes.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allow users to search and filter jobs based on skills, location, and experience.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enable employers to post, update, and delete job listings.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provide an easy way for candidates to apply for jobs online.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allow employers to view and manage job applications.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application tracking for job seekers.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ensure secure handling of user data with proper authentication.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reduce manual effort and improve efficiency in the recruitment process.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0" name="Group 13"/>
          <p:cNvGrpSpPr/>
          <p:nvPr/>
        </p:nvGrpSpPr>
        <p:grpSpPr>
          <a:xfrm>
            <a:off x="709356" y="3983373"/>
            <a:ext cx="992464" cy="992464"/>
            <a:chOff x="0" y="0"/>
            <a:chExt cx="992462" cy="992462"/>
          </a:xfrm>
        </p:grpSpPr>
        <p:sp>
          <p:nvSpPr>
            <p:cNvPr id="198" name="Freeform 14"/>
            <p:cNvSpPr/>
            <p:nvPr/>
          </p:nvSpPr>
          <p:spPr>
            <a:xfrm>
              <a:off x="0" y="0"/>
              <a:ext cx="992463" cy="992463"/>
            </a:xfrm>
            <a:prstGeom prst="ellipse">
              <a:avLst/>
            </a:prstGeom>
            <a:solidFill>
              <a:srgbClr val="FD622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99" name="TextBox 15"/>
            <p:cNvSpPr txBox="1"/>
            <p:nvPr/>
          </p:nvSpPr>
          <p:spPr>
            <a:xfrm>
              <a:off x="93043" y="183149"/>
              <a:ext cx="806377" cy="5563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3700"/>
                </a:lnSpc>
                <a:defRPr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4</a:t>
              </a:r>
            </a:p>
          </p:txBody>
        </p:sp>
      </p:grpSp>
      <p:grpSp>
        <p:nvGrpSpPr>
          <p:cNvPr id="203" name="Group 16"/>
          <p:cNvGrpSpPr/>
          <p:nvPr/>
        </p:nvGrpSpPr>
        <p:grpSpPr>
          <a:xfrm>
            <a:off x="951508" y="3315742"/>
            <a:ext cx="508159" cy="543806"/>
            <a:chOff x="0" y="0"/>
            <a:chExt cx="508157" cy="543804"/>
          </a:xfrm>
        </p:grpSpPr>
        <p:sp>
          <p:nvSpPr>
            <p:cNvPr id="201" name="Freeform 17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02" name="TextBox 18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3</a:t>
              </a:r>
            </a:p>
          </p:txBody>
        </p:sp>
      </p:grpSp>
      <p:grpSp>
        <p:nvGrpSpPr>
          <p:cNvPr id="206" name="Group 19"/>
          <p:cNvGrpSpPr/>
          <p:nvPr/>
        </p:nvGrpSpPr>
        <p:grpSpPr>
          <a:xfrm>
            <a:off x="951508" y="1982348"/>
            <a:ext cx="508159" cy="543806"/>
            <a:chOff x="0" y="0"/>
            <a:chExt cx="508157" cy="543804"/>
          </a:xfrm>
        </p:grpSpPr>
        <p:sp>
          <p:nvSpPr>
            <p:cNvPr id="204" name="Freeform 20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05" name="TextBox 21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1</a:t>
              </a:r>
            </a:p>
          </p:txBody>
        </p:sp>
      </p:grpSp>
      <p:grpSp>
        <p:nvGrpSpPr>
          <p:cNvPr id="209" name="Group 22"/>
          <p:cNvGrpSpPr/>
          <p:nvPr/>
        </p:nvGrpSpPr>
        <p:grpSpPr>
          <a:xfrm>
            <a:off x="951508" y="5094058"/>
            <a:ext cx="508159" cy="543806"/>
            <a:chOff x="0" y="0"/>
            <a:chExt cx="508157" cy="543804"/>
          </a:xfrm>
        </p:grpSpPr>
        <p:sp>
          <p:nvSpPr>
            <p:cNvPr id="207" name="Freeform 23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08" name="TextBox 24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5</a:t>
              </a:r>
            </a:p>
          </p:txBody>
        </p:sp>
      </p:grpSp>
      <p:grpSp>
        <p:nvGrpSpPr>
          <p:cNvPr id="212" name="Group 25"/>
          <p:cNvGrpSpPr/>
          <p:nvPr/>
        </p:nvGrpSpPr>
        <p:grpSpPr>
          <a:xfrm>
            <a:off x="951508" y="2648112"/>
            <a:ext cx="508159" cy="543806"/>
            <a:chOff x="0" y="0"/>
            <a:chExt cx="508157" cy="543804"/>
          </a:xfrm>
        </p:grpSpPr>
        <p:sp>
          <p:nvSpPr>
            <p:cNvPr id="210" name="Freeform 26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11" name="TextBox 27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2</a:t>
              </a:r>
            </a:p>
          </p:txBody>
        </p:sp>
      </p:grpSp>
      <p:grpSp>
        <p:nvGrpSpPr>
          <p:cNvPr id="215" name="Group 28"/>
          <p:cNvGrpSpPr/>
          <p:nvPr/>
        </p:nvGrpSpPr>
        <p:grpSpPr>
          <a:xfrm>
            <a:off x="951508" y="6425584"/>
            <a:ext cx="508159" cy="543806"/>
            <a:chOff x="0" y="0"/>
            <a:chExt cx="508157" cy="543804"/>
          </a:xfrm>
        </p:grpSpPr>
        <p:sp>
          <p:nvSpPr>
            <p:cNvPr id="213" name="Freeform 29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14" name="TextBox 30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7</a:t>
              </a:r>
            </a:p>
          </p:txBody>
        </p:sp>
      </p:grpSp>
      <p:grpSp>
        <p:nvGrpSpPr>
          <p:cNvPr id="218" name="Group 31"/>
          <p:cNvGrpSpPr/>
          <p:nvPr/>
        </p:nvGrpSpPr>
        <p:grpSpPr>
          <a:xfrm>
            <a:off x="951508" y="5759822"/>
            <a:ext cx="508159" cy="543806"/>
            <a:chOff x="0" y="0"/>
            <a:chExt cx="508157" cy="543804"/>
          </a:xfrm>
        </p:grpSpPr>
        <p:sp>
          <p:nvSpPr>
            <p:cNvPr id="216" name="Freeform 32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17" name="TextBox 33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6</a:t>
              </a:r>
            </a:p>
          </p:txBody>
        </p:sp>
      </p:grpSp>
      <p:grpSp>
        <p:nvGrpSpPr>
          <p:cNvPr id="221" name="Group 34"/>
          <p:cNvGrpSpPr/>
          <p:nvPr/>
        </p:nvGrpSpPr>
        <p:grpSpPr>
          <a:xfrm>
            <a:off x="951508" y="7093215"/>
            <a:ext cx="508159" cy="543806"/>
            <a:chOff x="0" y="0"/>
            <a:chExt cx="508157" cy="543804"/>
          </a:xfrm>
        </p:grpSpPr>
        <p:sp>
          <p:nvSpPr>
            <p:cNvPr id="219" name="Freeform 35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20" name="TextBox 36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8</a:t>
              </a:r>
            </a:p>
          </p:txBody>
        </p:sp>
      </p:grpSp>
      <p:grpSp>
        <p:nvGrpSpPr>
          <p:cNvPr id="224" name="Group 37"/>
          <p:cNvGrpSpPr/>
          <p:nvPr/>
        </p:nvGrpSpPr>
        <p:grpSpPr>
          <a:xfrm>
            <a:off x="951508" y="7760845"/>
            <a:ext cx="508159" cy="543806"/>
            <a:chOff x="0" y="0"/>
            <a:chExt cx="508157" cy="543804"/>
          </a:xfrm>
        </p:grpSpPr>
        <p:sp>
          <p:nvSpPr>
            <p:cNvPr id="222" name="Freeform 38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23" name="TextBox 39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9</a:t>
              </a:r>
            </a:p>
          </p:txBody>
        </p:sp>
      </p:grpSp>
      <p:sp>
        <p:nvSpPr>
          <p:cNvPr id="225" name="Freeform 10"/>
          <p:cNvSpPr/>
          <p:nvPr/>
        </p:nvSpPr>
        <p:spPr>
          <a:xfrm>
            <a:off x="16313419" y="910464"/>
            <a:ext cx="945881" cy="236471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26" name="TextBox 45"/>
          <p:cNvSpPr txBox="1"/>
          <p:nvPr/>
        </p:nvSpPr>
        <p:spPr>
          <a:xfrm>
            <a:off x="198119" y="342899"/>
            <a:ext cx="17815562" cy="7640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4800" b="1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PROPOSED SYSTEM</a:t>
            </a:r>
          </a:p>
        </p:txBody>
      </p:sp>
      <p:sp>
        <p:nvSpPr>
          <p:cNvPr id="227" name="TextBox 47"/>
          <p:cNvSpPr txBox="1"/>
          <p:nvPr/>
        </p:nvSpPr>
        <p:spPr>
          <a:xfrm>
            <a:off x="2255519" y="1638300"/>
            <a:ext cx="14990886" cy="44012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marL="457200" indent="-457200">
              <a:buSzPct val="100000"/>
              <a:buChar char="-"/>
              <a:defRPr sz="2800"/>
            </a:pPr>
            <a:endParaRPr dirty="0"/>
          </a:p>
          <a:p>
            <a:pPr marL="457200" indent="-457200">
              <a:buSzPct val="100000"/>
              <a:buChar char="-"/>
              <a:defRPr sz="2800"/>
            </a:pPr>
            <a:endParaRPr dirty="0"/>
          </a:p>
          <a:p>
            <a:pPr marL="457200" indent="-457200">
              <a:buSzPct val="100000"/>
              <a:buChar char="-"/>
              <a:defRPr sz="2800"/>
            </a:pPr>
            <a:endParaRPr dirty="0"/>
          </a:p>
          <a:p>
            <a:pPr marL="457200" indent="-457200">
              <a:buSzPct val="100000"/>
              <a:buChar char="-"/>
              <a:defRPr sz="2800"/>
            </a:pPr>
            <a:endParaRPr dirty="0"/>
          </a:p>
          <a:p>
            <a:pPr marL="457200" indent="-457200">
              <a:buSzPct val="100000"/>
              <a:buChar char="-"/>
              <a:defRPr sz="2800"/>
            </a:pPr>
            <a:endParaRPr dirty="0"/>
          </a:p>
          <a:p>
            <a:pPr marL="457200" indent="-457200">
              <a:buSzPct val="100000"/>
              <a:buChar char="-"/>
              <a:defRPr sz="2800"/>
            </a:pPr>
            <a:endParaRPr dirty="0"/>
          </a:p>
          <a:p>
            <a:pPr marL="457200" indent="-457200">
              <a:buSzPct val="100000"/>
              <a:buChar char="-"/>
              <a:defRPr sz="2800"/>
            </a:pPr>
            <a:endParaRPr dirty="0"/>
          </a:p>
          <a:p>
            <a:pPr marL="457200" indent="-457200">
              <a:buSzPct val="100000"/>
              <a:buChar char="-"/>
              <a:defRPr sz="2800"/>
            </a:pPr>
            <a:endParaRPr dirty="0"/>
          </a:p>
          <a:p>
            <a:pPr marL="457200" indent="-457200">
              <a:buSzPct val="100000"/>
              <a:buChar char="-"/>
              <a:defRPr sz="2800"/>
            </a:pPr>
            <a:endParaRPr dirty="0"/>
          </a:p>
          <a:p>
            <a:pPr marL="457200" indent="-457200">
              <a:buSzPct val="100000"/>
              <a:buChar char="-"/>
              <a:defRPr sz="2800"/>
            </a:pPr>
            <a:endParaRPr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CF34C16-654E-EC3B-5E49-ED94D7AD39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4864" y="1982863"/>
            <a:ext cx="18037123" cy="68326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is a web-based Job Portal Management System designed to simplify the recruitment process.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provides a centralized platform where job seekers and employers can interact efficiently.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Users can register, create profiles, and upload resumes through a user-friendly interface.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Job seekers can search and apply for jobs based on their skills, location, and experience.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Employers can post job openings, update details, and manage applications easily.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stores all data in a centralized database for quick access and management.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allows real-time tracking of job applications and their status.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platform includes secure login and role-based access for users and employers.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Automation reduces manual effort and minimizes errors in recruitment.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improves communication between candidates and employers.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Overall, it enhances efficiency, accuracy, and user experience in job management.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1" name="Group 5"/>
          <p:cNvGrpSpPr/>
          <p:nvPr/>
        </p:nvGrpSpPr>
        <p:grpSpPr>
          <a:xfrm>
            <a:off x="709356" y="4655765"/>
            <a:ext cx="992464" cy="992464"/>
            <a:chOff x="0" y="0"/>
            <a:chExt cx="992462" cy="992462"/>
          </a:xfrm>
        </p:grpSpPr>
        <p:sp>
          <p:nvSpPr>
            <p:cNvPr id="229" name="Freeform 6"/>
            <p:cNvSpPr/>
            <p:nvPr/>
          </p:nvSpPr>
          <p:spPr>
            <a:xfrm>
              <a:off x="0" y="0"/>
              <a:ext cx="992463" cy="992463"/>
            </a:xfrm>
            <a:prstGeom prst="ellipse">
              <a:avLst/>
            </a:prstGeom>
            <a:solidFill>
              <a:srgbClr val="FD622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30" name="TextBox 7"/>
            <p:cNvSpPr txBox="1"/>
            <p:nvPr/>
          </p:nvSpPr>
          <p:spPr>
            <a:xfrm>
              <a:off x="93043" y="183149"/>
              <a:ext cx="806377" cy="5563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3700"/>
                </a:lnSpc>
                <a:defRPr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5</a:t>
              </a:r>
            </a:p>
          </p:txBody>
        </p:sp>
      </p:grpSp>
      <p:grpSp>
        <p:nvGrpSpPr>
          <p:cNvPr id="234" name="Group 8"/>
          <p:cNvGrpSpPr/>
          <p:nvPr/>
        </p:nvGrpSpPr>
        <p:grpSpPr>
          <a:xfrm>
            <a:off x="951508" y="3320505"/>
            <a:ext cx="508159" cy="543806"/>
            <a:chOff x="0" y="0"/>
            <a:chExt cx="508157" cy="543804"/>
          </a:xfrm>
        </p:grpSpPr>
        <p:sp>
          <p:nvSpPr>
            <p:cNvPr id="232" name="Freeform 9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33" name="TextBox 10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3</a:t>
              </a:r>
            </a:p>
          </p:txBody>
        </p:sp>
      </p:grpSp>
      <p:grpSp>
        <p:nvGrpSpPr>
          <p:cNvPr id="237" name="Group 11"/>
          <p:cNvGrpSpPr/>
          <p:nvPr/>
        </p:nvGrpSpPr>
        <p:grpSpPr>
          <a:xfrm>
            <a:off x="951508" y="1987111"/>
            <a:ext cx="508159" cy="543806"/>
            <a:chOff x="0" y="0"/>
            <a:chExt cx="508157" cy="543804"/>
          </a:xfrm>
        </p:grpSpPr>
        <p:sp>
          <p:nvSpPr>
            <p:cNvPr id="235" name="Freeform 12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36" name="TextBox 13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1</a:t>
              </a:r>
            </a:p>
          </p:txBody>
        </p:sp>
      </p:grpSp>
      <p:grpSp>
        <p:nvGrpSpPr>
          <p:cNvPr id="240" name="Group 14"/>
          <p:cNvGrpSpPr/>
          <p:nvPr/>
        </p:nvGrpSpPr>
        <p:grpSpPr>
          <a:xfrm>
            <a:off x="951508" y="3988134"/>
            <a:ext cx="508159" cy="543806"/>
            <a:chOff x="0" y="0"/>
            <a:chExt cx="508157" cy="543804"/>
          </a:xfrm>
        </p:grpSpPr>
        <p:sp>
          <p:nvSpPr>
            <p:cNvPr id="238" name="Freeform 15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39" name="TextBox 16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4</a:t>
              </a:r>
            </a:p>
          </p:txBody>
        </p:sp>
      </p:grpSp>
      <p:grpSp>
        <p:nvGrpSpPr>
          <p:cNvPr id="243" name="Group 17"/>
          <p:cNvGrpSpPr/>
          <p:nvPr/>
        </p:nvGrpSpPr>
        <p:grpSpPr>
          <a:xfrm>
            <a:off x="951508" y="2652873"/>
            <a:ext cx="508159" cy="543806"/>
            <a:chOff x="0" y="0"/>
            <a:chExt cx="508157" cy="543804"/>
          </a:xfrm>
        </p:grpSpPr>
        <p:sp>
          <p:nvSpPr>
            <p:cNvPr id="241" name="Freeform 18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42" name="TextBox 19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2</a:t>
              </a:r>
            </a:p>
          </p:txBody>
        </p:sp>
      </p:grpSp>
      <p:grpSp>
        <p:nvGrpSpPr>
          <p:cNvPr id="246" name="Group 20"/>
          <p:cNvGrpSpPr/>
          <p:nvPr/>
        </p:nvGrpSpPr>
        <p:grpSpPr>
          <a:xfrm>
            <a:off x="951508" y="6430347"/>
            <a:ext cx="508159" cy="543806"/>
            <a:chOff x="0" y="0"/>
            <a:chExt cx="508157" cy="543804"/>
          </a:xfrm>
        </p:grpSpPr>
        <p:sp>
          <p:nvSpPr>
            <p:cNvPr id="244" name="Freeform 21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45" name="TextBox 22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7</a:t>
              </a:r>
            </a:p>
          </p:txBody>
        </p:sp>
      </p:grpSp>
      <p:grpSp>
        <p:nvGrpSpPr>
          <p:cNvPr id="249" name="Group 23"/>
          <p:cNvGrpSpPr/>
          <p:nvPr/>
        </p:nvGrpSpPr>
        <p:grpSpPr>
          <a:xfrm>
            <a:off x="951508" y="5764584"/>
            <a:ext cx="508159" cy="543806"/>
            <a:chOff x="0" y="0"/>
            <a:chExt cx="508157" cy="543804"/>
          </a:xfrm>
        </p:grpSpPr>
        <p:sp>
          <p:nvSpPr>
            <p:cNvPr id="247" name="Freeform 24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48" name="TextBox 25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6</a:t>
              </a:r>
            </a:p>
          </p:txBody>
        </p:sp>
      </p:grpSp>
      <p:grpSp>
        <p:nvGrpSpPr>
          <p:cNvPr id="252" name="Group 26"/>
          <p:cNvGrpSpPr/>
          <p:nvPr/>
        </p:nvGrpSpPr>
        <p:grpSpPr>
          <a:xfrm>
            <a:off x="951508" y="7088453"/>
            <a:ext cx="508159" cy="543806"/>
            <a:chOff x="0" y="0"/>
            <a:chExt cx="508157" cy="543804"/>
          </a:xfrm>
        </p:grpSpPr>
        <p:sp>
          <p:nvSpPr>
            <p:cNvPr id="250" name="Freeform 27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51" name="TextBox 28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8</a:t>
              </a:r>
            </a:p>
          </p:txBody>
        </p:sp>
      </p:grpSp>
      <p:grpSp>
        <p:nvGrpSpPr>
          <p:cNvPr id="255" name="Group 29"/>
          <p:cNvGrpSpPr/>
          <p:nvPr/>
        </p:nvGrpSpPr>
        <p:grpSpPr>
          <a:xfrm>
            <a:off x="951508" y="7756083"/>
            <a:ext cx="508159" cy="543806"/>
            <a:chOff x="0" y="0"/>
            <a:chExt cx="508157" cy="543804"/>
          </a:xfrm>
        </p:grpSpPr>
        <p:sp>
          <p:nvSpPr>
            <p:cNvPr id="253" name="Freeform 30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54" name="TextBox 31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9</a:t>
              </a:r>
            </a:p>
          </p:txBody>
        </p:sp>
      </p:grpSp>
      <p:sp>
        <p:nvSpPr>
          <p:cNvPr id="256" name="Freeform 38"/>
          <p:cNvSpPr/>
          <p:nvPr/>
        </p:nvSpPr>
        <p:spPr>
          <a:xfrm>
            <a:off x="11762088" y="-9632634"/>
            <a:ext cx="10994425" cy="10994425"/>
          </a:xfrm>
          <a:prstGeom prst="ellipse">
            <a:avLst/>
          </a:prstGeom>
          <a:ln w="514350" cap="sq">
            <a:solidFill>
              <a:srgbClr val="FD6220">
                <a:alpha val="11765"/>
              </a:srgbClr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57" name="Freeform 10"/>
          <p:cNvSpPr/>
          <p:nvPr/>
        </p:nvSpPr>
        <p:spPr>
          <a:xfrm>
            <a:off x="16313419" y="910464"/>
            <a:ext cx="945881" cy="236471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58" name="TextBox 41"/>
          <p:cNvSpPr txBox="1"/>
          <p:nvPr/>
        </p:nvSpPr>
        <p:spPr>
          <a:xfrm>
            <a:off x="198119" y="342899"/>
            <a:ext cx="17815562" cy="7640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4800" b="1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dirty="0"/>
              <a:t>PROPOSED SYSTEM ARCHITECTURE</a:t>
            </a:r>
          </a:p>
        </p:txBody>
      </p:sp>
      <p:sp>
        <p:nvSpPr>
          <p:cNvPr id="259" name="TextBox 42"/>
          <p:cNvSpPr txBox="1"/>
          <p:nvPr/>
        </p:nvSpPr>
        <p:spPr>
          <a:xfrm>
            <a:off x="2255520" y="1638300"/>
            <a:ext cx="8823961" cy="400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marL="514350" indent="-514350">
              <a:buSzPct val="100000"/>
              <a:buAutoNum type="arabicPeriod"/>
              <a:defRPr sz="20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b="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C3EE4D9-584D-AE06-36EF-BFDFAA3873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1821" y="-1721833"/>
            <a:ext cx="10043410" cy="111722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Here is 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clear Proposed System Architecture (10–12 lines)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your </a:t>
            </a: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Job Portal Management System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Job Portal Management System follows a multi-layered architecture.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process begins with the user accessing the system through a web browser.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frontend is developed using HTML, CSS, JavaScript, and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Thymeleaf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provide an interactive interface.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 requests are sent to the backend through HTTP requests.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Controller layer in Spring Boot handles incoming requests and directs them to the appropriate services.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Service layer processes the business logic such as job posting and application handling.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Repository layer interacts with the database using Spring Data JPA.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database (MySQL) stores all data including users, jobs, and applications.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Spring Security is used to manage authentication and authorization.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flows between layers in a structured and secure manner.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ensures efficient communication between frontend and backend.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architecture provides scalability, maintainability, and high performance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B6CB02-9E67-8693-DDBD-C9109DD8B8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97062" y="2416945"/>
            <a:ext cx="5801194" cy="6131742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4" name="Group 14"/>
          <p:cNvGrpSpPr/>
          <p:nvPr/>
        </p:nvGrpSpPr>
        <p:grpSpPr>
          <a:xfrm>
            <a:off x="735587" y="5318633"/>
            <a:ext cx="992464" cy="992464"/>
            <a:chOff x="0" y="0"/>
            <a:chExt cx="992462" cy="992462"/>
          </a:xfrm>
        </p:grpSpPr>
        <p:sp>
          <p:nvSpPr>
            <p:cNvPr id="262" name="Freeform 15"/>
            <p:cNvSpPr/>
            <p:nvPr/>
          </p:nvSpPr>
          <p:spPr>
            <a:xfrm>
              <a:off x="0" y="0"/>
              <a:ext cx="992463" cy="992463"/>
            </a:xfrm>
            <a:prstGeom prst="ellipse">
              <a:avLst/>
            </a:prstGeom>
            <a:solidFill>
              <a:srgbClr val="FD622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63" name="TextBox 16"/>
            <p:cNvSpPr txBox="1"/>
            <p:nvPr/>
          </p:nvSpPr>
          <p:spPr>
            <a:xfrm>
              <a:off x="93043" y="183149"/>
              <a:ext cx="806377" cy="5563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3700"/>
                </a:lnSpc>
                <a:defRPr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6</a:t>
              </a:r>
            </a:p>
          </p:txBody>
        </p:sp>
      </p:grpSp>
      <p:grpSp>
        <p:nvGrpSpPr>
          <p:cNvPr id="267" name="Group 17"/>
          <p:cNvGrpSpPr/>
          <p:nvPr/>
        </p:nvGrpSpPr>
        <p:grpSpPr>
          <a:xfrm>
            <a:off x="977740" y="3315742"/>
            <a:ext cx="508159" cy="543806"/>
            <a:chOff x="0" y="0"/>
            <a:chExt cx="508157" cy="543804"/>
          </a:xfrm>
        </p:grpSpPr>
        <p:sp>
          <p:nvSpPr>
            <p:cNvPr id="265" name="Freeform 18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66" name="TextBox 19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3</a:t>
              </a:r>
            </a:p>
          </p:txBody>
        </p:sp>
      </p:grpSp>
      <p:grpSp>
        <p:nvGrpSpPr>
          <p:cNvPr id="270" name="Group 20"/>
          <p:cNvGrpSpPr/>
          <p:nvPr/>
        </p:nvGrpSpPr>
        <p:grpSpPr>
          <a:xfrm>
            <a:off x="977740" y="1982348"/>
            <a:ext cx="508159" cy="543806"/>
            <a:chOff x="0" y="0"/>
            <a:chExt cx="508157" cy="543804"/>
          </a:xfrm>
        </p:grpSpPr>
        <p:sp>
          <p:nvSpPr>
            <p:cNvPr id="268" name="Freeform 21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69" name="TextBox 22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1</a:t>
              </a:r>
            </a:p>
          </p:txBody>
        </p:sp>
      </p:grpSp>
      <p:grpSp>
        <p:nvGrpSpPr>
          <p:cNvPr id="273" name="Group 23"/>
          <p:cNvGrpSpPr/>
          <p:nvPr/>
        </p:nvGrpSpPr>
        <p:grpSpPr>
          <a:xfrm>
            <a:off x="977740" y="3983373"/>
            <a:ext cx="508159" cy="543806"/>
            <a:chOff x="0" y="0"/>
            <a:chExt cx="508157" cy="543804"/>
          </a:xfrm>
        </p:grpSpPr>
        <p:sp>
          <p:nvSpPr>
            <p:cNvPr id="271" name="Freeform 24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72" name="TextBox 25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4</a:t>
              </a:r>
            </a:p>
          </p:txBody>
        </p:sp>
      </p:grpSp>
      <p:grpSp>
        <p:nvGrpSpPr>
          <p:cNvPr id="276" name="Group 26"/>
          <p:cNvGrpSpPr/>
          <p:nvPr/>
        </p:nvGrpSpPr>
        <p:grpSpPr>
          <a:xfrm>
            <a:off x="977740" y="2648112"/>
            <a:ext cx="508159" cy="543806"/>
            <a:chOff x="0" y="0"/>
            <a:chExt cx="508157" cy="543804"/>
          </a:xfrm>
        </p:grpSpPr>
        <p:sp>
          <p:nvSpPr>
            <p:cNvPr id="274" name="Freeform 27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75" name="TextBox 28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2</a:t>
              </a:r>
            </a:p>
          </p:txBody>
        </p:sp>
      </p:grpSp>
      <p:grpSp>
        <p:nvGrpSpPr>
          <p:cNvPr id="279" name="Group 29"/>
          <p:cNvGrpSpPr/>
          <p:nvPr/>
        </p:nvGrpSpPr>
        <p:grpSpPr>
          <a:xfrm>
            <a:off x="977740" y="6425584"/>
            <a:ext cx="508159" cy="543806"/>
            <a:chOff x="0" y="0"/>
            <a:chExt cx="508157" cy="543804"/>
          </a:xfrm>
        </p:grpSpPr>
        <p:sp>
          <p:nvSpPr>
            <p:cNvPr id="277" name="Freeform 30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78" name="TextBox 31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7</a:t>
              </a:r>
            </a:p>
          </p:txBody>
        </p:sp>
      </p:grpSp>
      <p:grpSp>
        <p:nvGrpSpPr>
          <p:cNvPr id="282" name="Group 32"/>
          <p:cNvGrpSpPr/>
          <p:nvPr/>
        </p:nvGrpSpPr>
        <p:grpSpPr>
          <a:xfrm>
            <a:off x="977740" y="4651002"/>
            <a:ext cx="508159" cy="543806"/>
            <a:chOff x="0" y="0"/>
            <a:chExt cx="508157" cy="543804"/>
          </a:xfrm>
        </p:grpSpPr>
        <p:sp>
          <p:nvSpPr>
            <p:cNvPr id="280" name="Freeform 33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81" name="TextBox 34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5</a:t>
              </a:r>
            </a:p>
          </p:txBody>
        </p:sp>
      </p:grpSp>
      <p:grpSp>
        <p:nvGrpSpPr>
          <p:cNvPr id="285" name="Group 37"/>
          <p:cNvGrpSpPr/>
          <p:nvPr/>
        </p:nvGrpSpPr>
        <p:grpSpPr>
          <a:xfrm>
            <a:off x="977740" y="7093215"/>
            <a:ext cx="508159" cy="543806"/>
            <a:chOff x="0" y="0"/>
            <a:chExt cx="508157" cy="543804"/>
          </a:xfrm>
        </p:grpSpPr>
        <p:sp>
          <p:nvSpPr>
            <p:cNvPr id="283" name="Freeform 38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84" name="TextBox 39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8</a:t>
              </a:r>
            </a:p>
          </p:txBody>
        </p:sp>
      </p:grpSp>
      <p:grpSp>
        <p:nvGrpSpPr>
          <p:cNvPr id="288" name="Group 40"/>
          <p:cNvGrpSpPr/>
          <p:nvPr/>
        </p:nvGrpSpPr>
        <p:grpSpPr>
          <a:xfrm>
            <a:off x="977740" y="7760845"/>
            <a:ext cx="508159" cy="543806"/>
            <a:chOff x="0" y="0"/>
            <a:chExt cx="508157" cy="543804"/>
          </a:xfrm>
        </p:grpSpPr>
        <p:sp>
          <p:nvSpPr>
            <p:cNvPr id="286" name="Freeform 41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87" name="TextBox 42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9</a:t>
              </a:r>
            </a:p>
          </p:txBody>
        </p:sp>
      </p:grpSp>
      <p:sp>
        <p:nvSpPr>
          <p:cNvPr id="289" name="Freeform 10"/>
          <p:cNvSpPr/>
          <p:nvPr/>
        </p:nvSpPr>
        <p:spPr>
          <a:xfrm>
            <a:off x="16313419" y="910464"/>
            <a:ext cx="945881" cy="236471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90" name="TextBox 46"/>
          <p:cNvSpPr txBox="1"/>
          <p:nvPr/>
        </p:nvSpPr>
        <p:spPr>
          <a:xfrm>
            <a:off x="236219" y="315937"/>
            <a:ext cx="17815562" cy="7640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4800" b="1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WORKFLOW</a:t>
            </a:r>
          </a:p>
        </p:txBody>
      </p:sp>
      <p:sp>
        <p:nvSpPr>
          <p:cNvPr id="291" name="TextBox 2"/>
          <p:cNvSpPr txBox="1"/>
          <p:nvPr/>
        </p:nvSpPr>
        <p:spPr>
          <a:xfrm>
            <a:off x="2407919" y="1866899"/>
            <a:ext cx="8442962" cy="61863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just">
              <a:defRPr sz="36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 marL="571500" indent="-571500">
              <a:buFont typeface="Wingdings" panose="05000000000000000000" pitchFamily="2" charset="2"/>
              <a:buChar char="Ø"/>
            </a:pPr>
            <a:r>
              <a:rPr dirty="0"/>
              <a:t>The Data Flow Diagram shows how data moves in the Real-Time Event Synchronization Engine.</a:t>
            </a:r>
            <a:endParaRPr lang="en-IN" dirty="0"/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dirty="0"/>
              <a:t> The user performs an action, which is sent to the system through a WebSocket connection. </a:t>
            </a:r>
            <a:endParaRPr lang="en-IN" dirty="0"/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dirty="0"/>
              <a:t>The server processes the event and broadcasts it to all connected clients. The updated data is displayed instantly on all user interfaces. This ensures real-time synchronization without page refresh.</a:t>
            </a:r>
          </a:p>
        </p:txBody>
      </p:sp>
      <p:pic>
        <p:nvPicPr>
          <p:cNvPr id="292" name="Picture 4" descr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1718110"/>
            <a:ext cx="6553201" cy="738779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6" name="Group 19"/>
          <p:cNvGrpSpPr/>
          <p:nvPr/>
        </p:nvGrpSpPr>
        <p:grpSpPr>
          <a:xfrm>
            <a:off x="735587" y="5976927"/>
            <a:ext cx="992464" cy="992464"/>
            <a:chOff x="0" y="0"/>
            <a:chExt cx="992462" cy="992462"/>
          </a:xfrm>
        </p:grpSpPr>
        <p:sp>
          <p:nvSpPr>
            <p:cNvPr id="294" name="Freeform 20"/>
            <p:cNvSpPr/>
            <p:nvPr/>
          </p:nvSpPr>
          <p:spPr>
            <a:xfrm>
              <a:off x="0" y="0"/>
              <a:ext cx="992463" cy="992463"/>
            </a:xfrm>
            <a:prstGeom prst="ellipse">
              <a:avLst/>
            </a:prstGeom>
            <a:solidFill>
              <a:srgbClr val="FD622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95" name="TextBox 21"/>
            <p:cNvSpPr txBox="1"/>
            <p:nvPr/>
          </p:nvSpPr>
          <p:spPr>
            <a:xfrm>
              <a:off x="93043" y="183149"/>
              <a:ext cx="806377" cy="5563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3700"/>
                </a:lnSpc>
                <a:defRPr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7</a:t>
              </a:r>
            </a:p>
          </p:txBody>
        </p:sp>
      </p:grpSp>
      <p:grpSp>
        <p:nvGrpSpPr>
          <p:cNvPr id="299" name="Group 22"/>
          <p:cNvGrpSpPr/>
          <p:nvPr/>
        </p:nvGrpSpPr>
        <p:grpSpPr>
          <a:xfrm>
            <a:off x="977740" y="3315742"/>
            <a:ext cx="508159" cy="543806"/>
            <a:chOff x="0" y="0"/>
            <a:chExt cx="508157" cy="543804"/>
          </a:xfrm>
        </p:grpSpPr>
        <p:sp>
          <p:nvSpPr>
            <p:cNvPr id="297" name="Freeform 23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98" name="TextBox 24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3</a:t>
              </a:r>
            </a:p>
          </p:txBody>
        </p:sp>
      </p:grpSp>
      <p:grpSp>
        <p:nvGrpSpPr>
          <p:cNvPr id="302" name="Group 25"/>
          <p:cNvGrpSpPr/>
          <p:nvPr/>
        </p:nvGrpSpPr>
        <p:grpSpPr>
          <a:xfrm>
            <a:off x="977740" y="1982348"/>
            <a:ext cx="508159" cy="543806"/>
            <a:chOff x="0" y="0"/>
            <a:chExt cx="508157" cy="543804"/>
          </a:xfrm>
        </p:grpSpPr>
        <p:sp>
          <p:nvSpPr>
            <p:cNvPr id="300" name="Freeform 26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01" name="TextBox 27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1</a:t>
              </a:r>
            </a:p>
          </p:txBody>
        </p:sp>
      </p:grpSp>
      <p:grpSp>
        <p:nvGrpSpPr>
          <p:cNvPr id="305" name="Group 28"/>
          <p:cNvGrpSpPr/>
          <p:nvPr/>
        </p:nvGrpSpPr>
        <p:grpSpPr>
          <a:xfrm>
            <a:off x="977740" y="3983373"/>
            <a:ext cx="508159" cy="543806"/>
            <a:chOff x="0" y="0"/>
            <a:chExt cx="508157" cy="543804"/>
          </a:xfrm>
        </p:grpSpPr>
        <p:sp>
          <p:nvSpPr>
            <p:cNvPr id="303" name="Freeform 29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04" name="TextBox 30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4</a:t>
              </a:r>
            </a:p>
          </p:txBody>
        </p:sp>
      </p:grpSp>
      <p:grpSp>
        <p:nvGrpSpPr>
          <p:cNvPr id="308" name="Group 31"/>
          <p:cNvGrpSpPr/>
          <p:nvPr/>
        </p:nvGrpSpPr>
        <p:grpSpPr>
          <a:xfrm>
            <a:off x="977740" y="2648112"/>
            <a:ext cx="508159" cy="543806"/>
            <a:chOff x="0" y="0"/>
            <a:chExt cx="508157" cy="543804"/>
          </a:xfrm>
        </p:grpSpPr>
        <p:sp>
          <p:nvSpPr>
            <p:cNvPr id="306" name="Freeform 32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07" name="TextBox 33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2</a:t>
              </a:r>
            </a:p>
          </p:txBody>
        </p:sp>
      </p:grpSp>
      <p:grpSp>
        <p:nvGrpSpPr>
          <p:cNvPr id="311" name="Group 34"/>
          <p:cNvGrpSpPr/>
          <p:nvPr/>
        </p:nvGrpSpPr>
        <p:grpSpPr>
          <a:xfrm>
            <a:off x="977740" y="5318633"/>
            <a:ext cx="508159" cy="543806"/>
            <a:chOff x="0" y="0"/>
            <a:chExt cx="508157" cy="543804"/>
          </a:xfrm>
        </p:grpSpPr>
        <p:sp>
          <p:nvSpPr>
            <p:cNvPr id="309" name="Freeform 35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10" name="TextBox 36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6</a:t>
              </a:r>
            </a:p>
          </p:txBody>
        </p:sp>
      </p:grpSp>
      <p:grpSp>
        <p:nvGrpSpPr>
          <p:cNvPr id="314" name="Group 37"/>
          <p:cNvGrpSpPr/>
          <p:nvPr/>
        </p:nvGrpSpPr>
        <p:grpSpPr>
          <a:xfrm>
            <a:off x="977740" y="4651002"/>
            <a:ext cx="508159" cy="543806"/>
            <a:chOff x="0" y="0"/>
            <a:chExt cx="508157" cy="543804"/>
          </a:xfrm>
        </p:grpSpPr>
        <p:sp>
          <p:nvSpPr>
            <p:cNvPr id="312" name="Freeform 38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13" name="TextBox 39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5</a:t>
              </a:r>
            </a:p>
          </p:txBody>
        </p:sp>
      </p:grpSp>
      <p:grpSp>
        <p:nvGrpSpPr>
          <p:cNvPr id="317" name="Group 40"/>
          <p:cNvGrpSpPr/>
          <p:nvPr/>
        </p:nvGrpSpPr>
        <p:grpSpPr>
          <a:xfrm>
            <a:off x="977740" y="7093215"/>
            <a:ext cx="508159" cy="543806"/>
            <a:chOff x="0" y="0"/>
            <a:chExt cx="508157" cy="543804"/>
          </a:xfrm>
        </p:grpSpPr>
        <p:sp>
          <p:nvSpPr>
            <p:cNvPr id="315" name="Freeform 41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16" name="TextBox 42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8</a:t>
              </a:r>
            </a:p>
          </p:txBody>
        </p:sp>
      </p:grpSp>
      <p:grpSp>
        <p:nvGrpSpPr>
          <p:cNvPr id="320" name="Group 43"/>
          <p:cNvGrpSpPr/>
          <p:nvPr/>
        </p:nvGrpSpPr>
        <p:grpSpPr>
          <a:xfrm>
            <a:off x="977740" y="7760845"/>
            <a:ext cx="508159" cy="543806"/>
            <a:chOff x="0" y="0"/>
            <a:chExt cx="508157" cy="543804"/>
          </a:xfrm>
        </p:grpSpPr>
        <p:sp>
          <p:nvSpPr>
            <p:cNvPr id="318" name="Freeform 44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19" name="TextBox 45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9</a:t>
              </a:r>
            </a:p>
          </p:txBody>
        </p:sp>
      </p:grpSp>
      <p:sp>
        <p:nvSpPr>
          <p:cNvPr id="321" name="Freeform 10"/>
          <p:cNvSpPr/>
          <p:nvPr/>
        </p:nvSpPr>
        <p:spPr>
          <a:xfrm>
            <a:off x="16313419" y="910464"/>
            <a:ext cx="945881" cy="236471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22" name="TextBox 46"/>
          <p:cNvSpPr txBox="1"/>
          <p:nvPr/>
        </p:nvSpPr>
        <p:spPr>
          <a:xfrm>
            <a:off x="198119" y="342899"/>
            <a:ext cx="17815562" cy="7640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4800" b="1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TECHNOLOGIES USED</a:t>
            </a:r>
          </a:p>
        </p:txBody>
      </p:sp>
      <p:sp>
        <p:nvSpPr>
          <p:cNvPr id="323" name="TextBox 47"/>
          <p:cNvSpPr txBox="1"/>
          <p:nvPr/>
        </p:nvSpPr>
        <p:spPr>
          <a:xfrm>
            <a:off x="2184559" y="1352651"/>
            <a:ext cx="15125701" cy="129573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HTML5 – Used for structuring web pages 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CSS3 – Used for styling and layout design 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JavaScript – Used for interactivity and dynamic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Thymeleaf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Template engine for integrating frontend with backend 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Spring Boot – Main framework for building the application 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Spring MVC – Handles request routing and application flow 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Spring Data JPA – Manages database operations using ORM </a:t>
            </a: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 – Stores user, job, and application data </a:t>
            </a: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Security: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Spring Security – Provides authentication and role-based authorization </a:t>
            </a:r>
          </a:p>
          <a:p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BCrypt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Used for password encryption </a:t>
            </a: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&amp; Environment: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IntelliJ IDEA / VS Code – Code development 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Maven – Dependency management 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Browser (Chrome/Edge) – Application testing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SzPct val="100000"/>
              <a:buFont typeface="Arial"/>
              <a:buChar char="•"/>
              <a:defRPr sz="2400"/>
            </a:pPr>
            <a:endParaRPr dirty="0"/>
          </a:p>
          <a:p>
            <a:pPr marL="457200" indent="-457200">
              <a:buSzPct val="100000"/>
              <a:buChar char="-"/>
              <a:defRPr sz="2400"/>
            </a:pPr>
            <a:endParaRPr dirty="0"/>
          </a:p>
          <a:p>
            <a:pPr marL="457200" indent="-457200">
              <a:buSzPct val="100000"/>
              <a:buChar char="-"/>
              <a:defRPr sz="2400"/>
            </a:pPr>
            <a:endParaRPr dirty="0"/>
          </a:p>
          <a:p>
            <a:pPr marL="457200" indent="-457200">
              <a:buSzPct val="100000"/>
              <a:buChar char="-"/>
              <a:defRPr sz="2400"/>
            </a:pPr>
            <a:endParaRPr dirty="0"/>
          </a:p>
          <a:p>
            <a:pPr marL="457200" indent="-457200">
              <a:buSzPct val="100000"/>
              <a:buChar char="-"/>
              <a:defRPr sz="2400"/>
            </a:pPr>
            <a:endParaRPr dirty="0"/>
          </a:p>
          <a:p>
            <a:pPr marL="457200" indent="-457200">
              <a:buSzPct val="100000"/>
              <a:buChar char="-"/>
              <a:defRPr sz="2400"/>
            </a:pPr>
            <a:endParaRPr dirty="0"/>
          </a:p>
          <a:p>
            <a:pPr marL="457200" indent="-457200">
              <a:buSzPct val="100000"/>
              <a:buChar char="-"/>
              <a:defRPr sz="2400"/>
            </a:pPr>
            <a:endParaRPr dirty="0"/>
          </a:p>
          <a:p>
            <a:pPr marL="457200" indent="-457200">
              <a:buSzPct val="100000"/>
              <a:buChar char="-"/>
              <a:defRPr sz="2400"/>
            </a:pPr>
            <a:endParaRPr dirty="0"/>
          </a:p>
          <a:p>
            <a:pPr marL="457200" indent="-457200">
              <a:buSzPct val="100000"/>
              <a:buChar char="-"/>
              <a:defRPr sz="2800"/>
            </a:pPr>
            <a:endParaRPr dirty="0"/>
          </a:p>
          <a:p>
            <a:pPr marL="457200" indent="-457200">
              <a:buSzPct val="100000"/>
              <a:buChar char="-"/>
              <a:defRPr sz="2800"/>
            </a:pPr>
            <a:endParaRPr dirty="0"/>
          </a:p>
          <a:p>
            <a:pPr marL="457200" indent="-457200">
              <a:buSzPct val="100000"/>
              <a:buChar char="-"/>
              <a:defRPr sz="2800"/>
            </a:pPr>
            <a:endParaRPr dirty="0"/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7" name="Group 7"/>
          <p:cNvGrpSpPr/>
          <p:nvPr/>
        </p:nvGrpSpPr>
        <p:grpSpPr>
          <a:xfrm>
            <a:off x="735587" y="6653893"/>
            <a:ext cx="992464" cy="992464"/>
            <a:chOff x="0" y="0"/>
            <a:chExt cx="992462" cy="992462"/>
          </a:xfrm>
        </p:grpSpPr>
        <p:sp>
          <p:nvSpPr>
            <p:cNvPr id="325" name="Freeform 8"/>
            <p:cNvSpPr/>
            <p:nvPr/>
          </p:nvSpPr>
          <p:spPr>
            <a:xfrm>
              <a:off x="0" y="0"/>
              <a:ext cx="992463" cy="992463"/>
            </a:xfrm>
            <a:prstGeom prst="ellipse">
              <a:avLst/>
            </a:prstGeom>
            <a:solidFill>
              <a:srgbClr val="FD622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26" name="TextBox 9"/>
            <p:cNvSpPr txBox="1"/>
            <p:nvPr/>
          </p:nvSpPr>
          <p:spPr>
            <a:xfrm>
              <a:off x="93043" y="183149"/>
              <a:ext cx="806377" cy="5563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3700"/>
                </a:lnSpc>
                <a:defRPr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8</a:t>
              </a:r>
            </a:p>
          </p:txBody>
        </p:sp>
      </p:grpSp>
      <p:grpSp>
        <p:nvGrpSpPr>
          <p:cNvPr id="330" name="Group 10"/>
          <p:cNvGrpSpPr/>
          <p:nvPr/>
        </p:nvGrpSpPr>
        <p:grpSpPr>
          <a:xfrm>
            <a:off x="977740" y="3315742"/>
            <a:ext cx="508159" cy="543806"/>
            <a:chOff x="0" y="0"/>
            <a:chExt cx="508157" cy="543804"/>
          </a:xfrm>
        </p:grpSpPr>
        <p:sp>
          <p:nvSpPr>
            <p:cNvPr id="328" name="Freeform 11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29" name="TextBox 12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3</a:t>
              </a:r>
            </a:p>
          </p:txBody>
        </p:sp>
      </p:grpSp>
      <p:grpSp>
        <p:nvGrpSpPr>
          <p:cNvPr id="333" name="Group 13"/>
          <p:cNvGrpSpPr/>
          <p:nvPr/>
        </p:nvGrpSpPr>
        <p:grpSpPr>
          <a:xfrm>
            <a:off x="977740" y="1982348"/>
            <a:ext cx="508159" cy="543806"/>
            <a:chOff x="0" y="0"/>
            <a:chExt cx="508157" cy="543804"/>
          </a:xfrm>
        </p:grpSpPr>
        <p:sp>
          <p:nvSpPr>
            <p:cNvPr id="331" name="Freeform 14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32" name="TextBox 15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1</a:t>
              </a:r>
            </a:p>
          </p:txBody>
        </p:sp>
      </p:grpSp>
      <p:grpSp>
        <p:nvGrpSpPr>
          <p:cNvPr id="336" name="Group 16"/>
          <p:cNvGrpSpPr/>
          <p:nvPr/>
        </p:nvGrpSpPr>
        <p:grpSpPr>
          <a:xfrm>
            <a:off x="977740" y="3983373"/>
            <a:ext cx="508159" cy="543806"/>
            <a:chOff x="0" y="0"/>
            <a:chExt cx="508157" cy="543804"/>
          </a:xfrm>
        </p:grpSpPr>
        <p:sp>
          <p:nvSpPr>
            <p:cNvPr id="334" name="Freeform 17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35" name="TextBox 18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4</a:t>
              </a:r>
            </a:p>
          </p:txBody>
        </p:sp>
      </p:grpSp>
      <p:grpSp>
        <p:nvGrpSpPr>
          <p:cNvPr id="339" name="Group 19"/>
          <p:cNvGrpSpPr/>
          <p:nvPr/>
        </p:nvGrpSpPr>
        <p:grpSpPr>
          <a:xfrm>
            <a:off x="977740" y="2648112"/>
            <a:ext cx="508159" cy="543806"/>
            <a:chOff x="0" y="0"/>
            <a:chExt cx="508157" cy="543804"/>
          </a:xfrm>
        </p:grpSpPr>
        <p:sp>
          <p:nvSpPr>
            <p:cNvPr id="337" name="Freeform 20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38" name="TextBox 21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2</a:t>
              </a:r>
            </a:p>
          </p:txBody>
        </p:sp>
      </p:grpSp>
      <p:grpSp>
        <p:nvGrpSpPr>
          <p:cNvPr id="342" name="Group 22"/>
          <p:cNvGrpSpPr/>
          <p:nvPr/>
        </p:nvGrpSpPr>
        <p:grpSpPr>
          <a:xfrm>
            <a:off x="977740" y="5318633"/>
            <a:ext cx="508159" cy="543806"/>
            <a:chOff x="0" y="0"/>
            <a:chExt cx="508157" cy="543804"/>
          </a:xfrm>
        </p:grpSpPr>
        <p:sp>
          <p:nvSpPr>
            <p:cNvPr id="340" name="Freeform 23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41" name="TextBox 24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6</a:t>
              </a:r>
            </a:p>
          </p:txBody>
        </p:sp>
      </p:grpSp>
      <p:grpSp>
        <p:nvGrpSpPr>
          <p:cNvPr id="345" name="Group 25"/>
          <p:cNvGrpSpPr/>
          <p:nvPr/>
        </p:nvGrpSpPr>
        <p:grpSpPr>
          <a:xfrm>
            <a:off x="977740" y="4651002"/>
            <a:ext cx="508159" cy="543806"/>
            <a:chOff x="0" y="0"/>
            <a:chExt cx="508157" cy="543804"/>
          </a:xfrm>
        </p:grpSpPr>
        <p:sp>
          <p:nvSpPr>
            <p:cNvPr id="343" name="Freeform 26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44" name="TextBox 27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5</a:t>
              </a:r>
            </a:p>
          </p:txBody>
        </p:sp>
      </p:grpSp>
      <p:grpSp>
        <p:nvGrpSpPr>
          <p:cNvPr id="348" name="Group 28"/>
          <p:cNvGrpSpPr/>
          <p:nvPr/>
        </p:nvGrpSpPr>
        <p:grpSpPr>
          <a:xfrm>
            <a:off x="977740" y="5986264"/>
            <a:ext cx="508159" cy="543806"/>
            <a:chOff x="0" y="0"/>
            <a:chExt cx="508157" cy="543804"/>
          </a:xfrm>
        </p:grpSpPr>
        <p:sp>
          <p:nvSpPr>
            <p:cNvPr id="346" name="Freeform 29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47" name="TextBox 30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7</a:t>
              </a:r>
            </a:p>
          </p:txBody>
        </p:sp>
      </p:grpSp>
      <p:grpSp>
        <p:nvGrpSpPr>
          <p:cNvPr id="351" name="Group 31"/>
          <p:cNvGrpSpPr/>
          <p:nvPr/>
        </p:nvGrpSpPr>
        <p:grpSpPr>
          <a:xfrm>
            <a:off x="977740" y="7760845"/>
            <a:ext cx="508159" cy="543806"/>
            <a:chOff x="0" y="0"/>
            <a:chExt cx="508157" cy="543804"/>
          </a:xfrm>
        </p:grpSpPr>
        <p:sp>
          <p:nvSpPr>
            <p:cNvPr id="349" name="Freeform 32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50" name="TextBox 33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9</a:t>
              </a:r>
            </a:p>
          </p:txBody>
        </p:sp>
      </p:grpSp>
      <p:sp>
        <p:nvSpPr>
          <p:cNvPr id="352" name="Freeform 34"/>
          <p:cNvSpPr/>
          <p:nvPr/>
        </p:nvSpPr>
        <p:spPr>
          <a:xfrm>
            <a:off x="16313419" y="1028699"/>
            <a:ext cx="945881" cy="236471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54" name="TextBox 42"/>
          <p:cNvSpPr txBox="1"/>
          <p:nvPr/>
        </p:nvSpPr>
        <p:spPr>
          <a:xfrm>
            <a:off x="198119" y="342899"/>
            <a:ext cx="17815562" cy="7640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4800" b="1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MODULE DESCRIPTION</a:t>
            </a:r>
          </a:p>
        </p:txBody>
      </p:sp>
      <p:sp>
        <p:nvSpPr>
          <p:cNvPr id="355" name="TextBox 43"/>
          <p:cNvSpPr txBox="1"/>
          <p:nvPr/>
        </p:nvSpPr>
        <p:spPr>
          <a:xfrm>
            <a:off x="2075859" y="1456852"/>
            <a:ext cx="15383511" cy="109260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2800" b="1"/>
            </a:pPr>
            <a:endParaRPr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User Management Module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module handles user registration and login functionality.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allows job seekers and employers to create accounts and maintain their profiles.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can update personal details such as name, email, and password.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 and role-based access are also managed in this module.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Job Management Module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module allows employers to post new job vacancies with details like title, skills, salary, and location.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Employers can edit or delete job postings as needed.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Job listings are displayed to users in an organized manner.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ensures proper management of all job-related data.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 Job Search &amp; Filter Module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module enables job seekers to search for jobs based on criteria such as skills, location, and experience.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provides filtering options to quickly find relevant job opportunities.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improves user experience by displaying accurate and sorted results.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4: Application Management Module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module allows users to apply for jobs online.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stores application details such as user, job, and application status.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Employers can view all applicants for their posted jobs.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can shortlist or reject candidates based on requirements.</a:t>
            </a:r>
          </a:p>
          <a:p>
            <a:pPr marL="342900" indent="-342900">
              <a:buFont typeface="Wingdings" panose="05000000000000000000" pitchFamily="2" charset="2"/>
              <a:buChar char="q"/>
              <a:defRPr sz="2800"/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  <a:defRPr sz="2800"/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  <a:defRPr sz="2800"/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  <a:defRPr sz="2800"/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800"/>
            </a:pPr>
            <a:endParaRPr dirty="0"/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9" name="Group 7"/>
          <p:cNvGrpSpPr/>
          <p:nvPr/>
        </p:nvGrpSpPr>
        <p:grpSpPr>
          <a:xfrm>
            <a:off x="735587" y="6653893"/>
            <a:ext cx="992464" cy="992464"/>
            <a:chOff x="0" y="0"/>
            <a:chExt cx="992462" cy="992462"/>
          </a:xfrm>
        </p:grpSpPr>
        <p:sp>
          <p:nvSpPr>
            <p:cNvPr id="357" name="Freeform 8"/>
            <p:cNvSpPr/>
            <p:nvPr/>
          </p:nvSpPr>
          <p:spPr>
            <a:xfrm>
              <a:off x="0" y="0"/>
              <a:ext cx="992463" cy="992463"/>
            </a:xfrm>
            <a:prstGeom prst="ellipse">
              <a:avLst/>
            </a:prstGeom>
            <a:solidFill>
              <a:srgbClr val="FD622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58" name="TextBox 9"/>
            <p:cNvSpPr txBox="1"/>
            <p:nvPr/>
          </p:nvSpPr>
          <p:spPr>
            <a:xfrm>
              <a:off x="93043" y="187530"/>
              <a:ext cx="806377" cy="54761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3700"/>
                </a:lnSpc>
                <a:defRPr sz="2400" b="1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8</a:t>
              </a:r>
            </a:p>
          </p:txBody>
        </p:sp>
      </p:grpSp>
      <p:grpSp>
        <p:nvGrpSpPr>
          <p:cNvPr id="362" name="Group 10"/>
          <p:cNvGrpSpPr/>
          <p:nvPr/>
        </p:nvGrpSpPr>
        <p:grpSpPr>
          <a:xfrm>
            <a:off x="977740" y="3315742"/>
            <a:ext cx="508159" cy="543806"/>
            <a:chOff x="0" y="0"/>
            <a:chExt cx="508157" cy="543804"/>
          </a:xfrm>
        </p:grpSpPr>
        <p:sp>
          <p:nvSpPr>
            <p:cNvPr id="360" name="Freeform 11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61" name="TextBox 12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3</a:t>
              </a:r>
            </a:p>
          </p:txBody>
        </p:sp>
      </p:grpSp>
      <p:grpSp>
        <p:nvGrpSpPr>
          <p:cNvPr id="365" name="Group 13"/>
          <p:cNvGrpSpPr/>
          <p:nvPr/>
        </p:nvGrpSpPr>
        <p:grpSpPr>
          <a:xfrm>
            <a:off x="977740" y="1982348"/>
            <a:ext cx="508159" cy="543806"/>
            <a:chOff x="0" y="0"/>
            <a:chExt cx="508157" cy="543804"/>
          </a:xfrm>
        </p:grpSpPr>
        <p:sp>
          <p:nvSpPr>
            <p:cNvPr id="363" name="Freeform 14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64" name="TextBox 15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1</a:t>
              </a:r>
            </a:p>
          </p:txBody>
        </p:sp>
      </p:grpSp>
      <p:grpSp>
        <p:nvGrpSpPr>
          <p:cNvPr id="368" name="Group 16"/>
          <p:cNvGrpSpPr/>
          <p:nvPr/>
        </p:nvGrpSpPr>
        <p:grpSpPr>
          <a:xfrm>
            <a:off x="977740" y="3983373"/>
            <a:ext cx="508159" cy="543806"/>
            <a:chOff x="0" y="0"/>
            <a:chExt cx="508157" cy="543804"/>
          </a:xfrm>
        </p:grpSpPr>
        <p:sp>
          <p:nvSpPr>
            <p:cNvPr id="366" name="Freeform 17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67" name="TextBox 18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4</a:t>
              </a:r>
            </a:p>
          </p:txBody>
        </p:sp>
      </p:grpSp>
      <p:grpSp>
        <p:nvGrpSpPr>
          <p:cNvPr id="371" name="Group 19"/>
          <p:cNvGrpSpPr/>
          <p:nvPr/>
        </p:nvGrpSpPr>
        <p:grpSpPr>
          <a:xfrm>
            <a:off x="977740" y="2648112"/>
            <a:ext cx="508159" cy="543806"/>
            <a:chOff x="0" y="0"/>
            <a:chExt cx="508157" cy="543804"/>
          </a:xfrm>
        </p:grpSpPr>
        <p:sp>
          <p:nvSpPr>
            <p:cNvPr id="369" name="Freeform 20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70" name="TextBox 21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2</a:t>
              </a:r>
            </a:p>
          </p:txBody>
        </p:sp>
      </p:grpSp>
      <p:grpSp>
        <p:nvGrpSpPr>
          <p:cNvPr id="374" name="Group 22"/>
          <p:cNvGrpSpPr/>
          <p:nvPr/>
        </p:nvGrpSpPr>
        <p:grpSpPr>
          <a:xfrm>
            <a:off x="977740" y="5318633"/>
            <a:ext cx="508159" cy="543806"/>
            <a:chOff x="0" y="0"/>
            <a:chExt cx="508157" cy="543804"/>
          </a:xfrm>
        </p:grpSpPr>
        <p:sp>
          <p:nvSpPr>
            <p:cNvPr id="372" name="Freeform 23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73" name="TextBox 24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6</a:t>
              </a:r>
            </a:p>
          </p:txBody>
        </p:sp>
      </p:grpSp>
      <p:grpSp>
        <p:nvGrpSpPr>
          <p:cNvPr id="377" name="Group 25"/>
          <p:cNvGrpSpPr/>
          <p:nvPr/>
        </p:nvGrpSpPr>
        <p:grpSpPr>
          <a:xfrm>
            <a:off x="977740" y="4651002"/>
            <a:ext cx="508159" cy="543806"/>
            <a:chOff x="0" y="0"/>
            <a:chExt cx="508157" cy="543804"/>
          </a:xfrm>
        </p:grpSpPr>
        <p:sp>
          <p:nvSpPr>
            <p:cNvPr id="375" name="Freeform 26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76" name="TextBox 27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5</a:t>
              </a:r>
            </a:p>
          </p:txBody>
        </p:sp>
      </p:grpSp>
      <p:grpSp>
        <p:nvGrpSpPr>
          <p:cNvPr id="380" name="Group 28"/>
          <p:cNvGrpSpPr/>
          <p:nvPr/>
        </p:nvGrpSpPr>
        <p:grpSpPr>
          <a:xfrm>
            <a:off x="977740" y="5986264"/>
            <a:ext cx="508159" cy="543806"/>
            <a:chOff x="0" y="0"/>
            <a:chExt cx="508157" cy="543804"/>
          </a:xfrm>
        </p:grpSpPr>
        <p:sp>
          <p:nvSpPr>
            <p:cNvPr id="378" name="Freeform 29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79" name="TextBox 30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7</a:t>
              </a:r>
            </a:p>
          </p:txBody>
        </p:sp>
      </p:grpSp>
      <p:grpSp>
        <p:nvGrpSpPr>
          <p:cNvPr id="383" name="Group 31"/>
          <p:cNvGrpSpPr/>
          <p:nvPr/>
        </p:nvGrpSpPr>
        <p:grpSpPr>
          <a:xfrm>
            <a:off x="977740" y="7760845"/>
            <a:ext cx="508159" cy="543806"/>
            <a:chOff x="0" y="0"/>
            <a:chExt cx="508157" cy="543804"/>
          </a:xfrm>
        </p:grpSpPr>
        <p:sp>
          <p:nvSpPr>
            <p:cNvPr id="381" name="Freeform 32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82" name="TextBox 33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9</a:t>
              </a:r>
            </a:p>
          </p:txBody>
        </p:sp>
      </p:grpSp>
      <p:sp>
        <p:nvSpPr>
          <p:cNvPr id="384" name="Freeform 34"/>
          <p:cNvSpPr/>
          <p:nvPr/>
        </p:nvSpPr>
        <p:spPr>
          <a:xfrm>
            <a:off x="16313419" y="1028699"/>
            <a:ext cx="945881" cy="236471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86" name="TextBox 42"/>
          <p:cNvSpPr txBox="1"/>
          <p:nvPr/>
        </p:nvSpPr>
        <p:spPr>
          <a:xfrm>
            <a:off x="198119" y="342899"/>
            <a:ext cx="17815562" cy="7640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4800" b="1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IMPLEMENTATION SCREENSHOTS</a:t>
            </a:r>
          </a:p>
        </p:txBody>
      </p:sp>
      <p:sp>
        <p:nvSpPr>
          <p:cNvPr id="387" name="TextBox 2"/>
          <p:cNvSpPr txBox="1"/>
          <p:nvPr/>
        </p:nvSpPr>
        <p:spPr>
          <a:xfrm>
            <a:off x="2560319" y="1943099"/>
            <a:ext cx="14990886" cy="18158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2800" b="1"/>
            </a:pPr>
            <a:r>
              <a:rPr dirty="0"/>
              <a:t>Home Page</a:t>
            </a:r>
          </a:p>
          <a:p>
            <a:pPr marL="457200" indent="-457200">
              <a:buSzPct val="100000"/>
              <a:buFont typeface="Arial"/>
              <a:buChar char="•"/>
              <a:defRPr sz="2800"/>
            </a:pPr>
            <a:r>
              <a:rPr dirty="0"/>
              <a:t>The Home Page introduces </a:t>
            </a:r>
            <a:r>
              <a:rPr lang="en-IN" dirty="0"/>
              <a:t>job portal </a:t>
            </a:r>
            <a:r>
              <a:rPr dirty="0"/>
              <a:t> platform and provides basic information about the </a:t>
            </a:r>
            <a:r>
              <a:rPr lang="en-IN" dirty="0"/>
              <a:t>jobs</a:t>
            </a:r>
            <a:endParaRPr dirty="0"/>
          </a:p>
          <a:p>
            <a:pPr marL="457200" indent="-457200">
              <a:buSzPct val="100000"/>
              <a:buFont typeface="Arial"/>
              <a:buChar char="•"/>
              <a:defRPr sz="2800"/>
            </a:pPr>
            <a:r>
              <a:rPr dirty="0"/>
              <a:t>It includes a “Register Now” button that redirects users to the registration page to </a:t>
            </a:r>
            <a:r>
              <a:rPr lang="en-IN" dirty="0"/>
              <a:t>get information about jobs.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E87210-3B7F-1DAC-0A23-FA8A497B3C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19" y="4099109"/>
            <a:ext cx="15147851" cy="5787861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2" name="Group 7"/>
          <p:cNvGrpSpPr/>
          <p:nvPr/>
        </p:nvGrpSpPr>
        <p:grpSpPr>
          <a:xfrm>
            <a:off x="735587" y="6653893"/>
            <a:ext cx="992464" cy="992464"/>
            <a:chOff x="0" y="0"/>
            <a:chExt cx="992462" cy="992462"/>
          </a:xfrm>
        </p:grpSpPr>
        <p:sp>
          <p:nvSpPr>
            <p:cNvPr id="390" name="Freeform 8"/>
            <p:cNvSpPr/>
            <p:nvPr/>
          </p:nvSpPr>
          <p:spPr>
            <a:xfrm>
              <a:off x="0" y="0"/>
              <a:ext cx="992463" cy="992463"/>
            </a:xfrm>
            <a:prstGeom prst="ellipse">
              <a:avLst/>
            </a:prstGeom>
            <a:solidFill>
              <a:srgbClr val="FD622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91" name="TextBox 9"/>
            <p:cNvSpPr txBox="1"/>
            <p:nvPr/>
          </p:nvSpPr>
          <p:spPr>
            <a:xfrm>
              <a:off x="93043" y="187530"/>
              <a:ext cx="806377" cy="54761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3700"/>
                </a:lnSpc>
                <a:defRPr sz="2400" b="1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8(A)</a:t>
              </a:r>
            </a:p>
          </p:txBody>
        </p:sp>
      </p:grpSp>
      <p:grpSp>
        <p:nvGrpSpPr>
          <p:cNvPr id="395" name="Group 10"/>
          <p:cNvGrpSpPr/>
          <p:nvPr/>
        </p:nvGrpSpPr>
        <p:grpSpPr>
          <a:xfrm>
            <a:off x="977740" y="3315742"/>
            <a:ext cx="508159" cy="543806"/>
            <a:chOff x="0" y="0"/>
            <a:chExt cx="508157" cy="543804"/>
          </a:xfrm>
        </p:grpSpPr>
        <p:sp>
          <p:nvSpPr>
            <p:cNvPr id="393" name="Freeform 11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94" name="TextBox 12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3</a:t>
              </a:r>
            </a:p>
          </p:txBody>
        </p:sp>
      </p:grpSp>
      <p:grpSp>
        <p:nvGrpSpPr>
          <p:cNvPr id="398" name="Group 13"/>
          <p:cNvGrpSpPr/>
          <p:nvPr/>
        </p:nvGrpSpPr>
        <p:grpSpPr>
          <a:xfrm>
            <a:off x="977740" y="1982348"/>
            <a:ext cx="508159" cy="543806"/>
            <a:chOff x="0" y="0"/>
            <a:chExt cx="508157" cy="543804"/>
          </a:xfrm>
        </p:grpSpPr>
        <p:sp>
          <p:nvSpPr>
            <p:cNvPr id="396" name="Freeform 14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97" name="TextBox 15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1</a:t>
              </a:r>
            </a:p>
          </p:txBody>
        </p:sp>
      </p:grpSp>
      <p:grpSp>
        <p:nvGrpSpPr>
          <p:cNvPr id="401" name="Group 16"/>
          <p:cNvGrpSpPr/>
          <p:nvPr/>
        </p:nvGrpSpPr>
        <p:grpSpPr>
          <a:xfrm>
            <a:off x="977740" y="3983373"/>
            <a:ext cx="508159" cy="543806"/>
            <a:chOff x="0" y="0"/>
            <a:chExt cx="508157" cy="543804"/>
          </a:xfrm>
        </p:grpSpPr>
        <p:sp>
          <p:nvSpPr>
            <p:cNvPr id="399" name="Freeform 17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00" name="TextBox 18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4</a:t>
              </a:r>
            </a:p>
          </p:txBody>
        </p:sp>
      </p:grpSp>
      <p:grpSp>
        <p:nvGrpSpPr>
          <p:cNvPr id="404" name="Group 19"/>
          <p:cNvGrpSpPr/>
          <p:nvPr/>
        </p:nvGrpSpPr>
        <p:grpSpPr>
          <a:xfrm>
            <a:off x="977740" y="2648112"/>
            <a:ext cx="508159" cy="543806"/>
            <a:chOff x="0" y="0"/>
            <a:chExt cx="508157" cy="543804"/>
          </a:xfrm>
        </p:grpSpPr>
        <p:sp>
          <p:nvSpPr>
            <p:cNvPr id="402" name="Freeform 20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03" name="TextBox 21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2</a:t>
              </a:r>
            </a:p>
          </p:txBody>
        </p:sp>
      </p:grpSp>
      <p:grpSp>
        <p:nvGrpSpPr>
          <p:cNvPr id="407" name="Group 22"/>
          <p:cNvGrpSpPr/>
          <p:nvPr/>
        </p:nvGrpSpPr>
        <p:grpSpPr>
          <a:xfrm>
            <a:off x="977740" y="5318633"/>
            <a:ext cx="508159" cy="543806"/>
            <a:chOff x="0" y="0"/>
            <a:chExt cx="508157" cy="543804"/>
          </a:xfrm>
        </p:grpSpPr>
        <p:sp>
          <p:nvSpPr>
            <p:cNvPr id="405" name="Freeform 23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06" name="TextBox 24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6</a:t>
              </a:r>
            </a:p>
          </p:txBody>
        </p:sp>
      </p:grpSp>
      <p:grpSp>
        <p:nvGrpSpPr>
          <p:cNvPr id="410" name="Group 25"/>
          <p:cNvGrpSpPr/>
          <p:nvPr/>
        </p:nvGrpSpPr>
        <p:grpSpPr>
          <a:xfrm>
            <a:off x="977740" y="4651002"/>
            <a:ext cx="508159" cy="543806"/>
            <a:chOff x="0" y="0"/>
            <a:chExt cx="508157" cy="543804"/>
          </a:xfrm>
        </p:grpSpPr>
        <p:sp>
          <p:nvSpPr>
            <p:cNvPr id="408" name="Freeform 26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09" name="TextBox 27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5</a:t>
              </a:r>
            </a:p>
          </p:txBody>
        </p:sp>
      </p:grpSp>
      <p:grpSp>
        <p:nvGrpSpPr>
          <p:cNvPr id="413" name="Group 28"/>
          <p:cNvGrpSpPr/>
          <p:nvPr/>
        </p:nvGrpSpPr>
        <p:grpSpPr>
          <a:xfrm>
            <a:off x="977740" y="5986264"/>
            <a:ext cx="508159" cy="543806"/>
            <a:chOff x="0" y="0"/>
            <a:chExt cx="508157" cy="543804"/>
          </a:xfrm>
        </p:grpSpPr>
        <p:sp>
          <p:nvSpPr>
            <p:cNvPr id="411" name="Freeform 29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12" name="TextBox 30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7</a:t>
              </a:r>
            </a:p>
          </p:txBody>
        </p:sp>
      </p:grpSp>
      <p:grpSp>
        <p:nvGrpSpPr>
          <p:cNvPr id="416" name="Group 31"/>
          <p:cNvGrpSpPr/>
          <p:nvPr/>
        </p:nvGrpSpPr>
        <p:grpSpPr>
          <a:xfrm>
            <a:off x="977740" y="7760845"/>
            <a:ext cx="508159" cy="543806"/>
            <a:chOff x="0" y="0"/>
            <a:chExt cx="508157" cy="543804"/>
          </a:xfrm>
        </p:grpSpPr>
        <p:sp>
          <p:nvSpPr>
            <p:cNvPr id="414" name="Freeform 32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15" name="TextBox 33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9</a:t>
              </a:r>
            </a:p>
          </p:txBody>
        </p:sp>
      </p:grpSp>
      <p:sp>
        <p:nvSpPr>
          <p:cNvPr id="417" name="Freeform 34"/>
          <p:cNvSpPr/>
          <p:nvPr/>
        </p:nvSpPr>
        <p:spPr>
          <a:xfrm>
            <a:off x="16313419" y="1028699"/>
            <a:ext cx="945881" cy="236471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19" name="TextBox 42"/>
          <p:cNvSpPr txBox="1"/>
          <p:nvPr/>
        </p:nvSpPr>
        <p:spPr>
          <a:xfrm>
            <a:off x="198119" y="342899"/>
            <a:ext cx="17815562" cy="7640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4800" b="1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IMPLEMENTATION SCREENSHOTS</a:t>
            </a:r>
          </a:p>
        </p:txBody>
      </p:sp>
      <p:sp>
        <p:nvSpPr>
          <p:cNvPr id="420" name="TextBox 3"/>
          <p:cNvSpPr txBox="1"/>
          <p:nvPr/>
        </p:nvSpPr>
        <p:spPr>
          <a:xfrm>
            <a:off x="1807858" y="1376035"/>
            <a:ext cx="16434422" cy="13849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28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Login / Registration Page</a:t>
            </a:r>
          </a:p>
          <a:p>
            <a:pPr marL="457200" indent="-457200">
              <a:buSzPct val="100000"/>
              <a:buFont typeface="Arial"/>
              <a:buChar char="•"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The Registration Page allows users to enter their name and email </a:t>
            </a:r>
            <a:r>
              <a:rPr lang="en-IN" dirty="0"/>
              <a:t>and their role.</a:t>
            </a:r>
            <a:endParaRPr dirty="0"/>
          </a:p>
          <a:p>
            <a:pPr marL="457200" indent="-457200">
              <a:buSzPct val="100000"/>
              <a:buFont typeface="Arial"/>
              <a:buChar char="•"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User details are validated</a:t>
            </a:r>
            <a:r>
              <a:rPr lang="en-IN" dirty="0"/>
              <a:t> and then </a:t>
            </a:r>
            <a:r>
              <a:rPr lang="en-IN" dirty="0" err="1"/>
              <a:t>forwaded</a:t>
            </a:r>
            <a:r>
              <a:rPr lang="en-IN" dirty="0"/>
              <a:t> to portal page.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76219C-6D0E-5B56-AECB-ACBAAFB057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836" y="2871895"/>
            <a:ext cx="7250658" cy="699257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5" name="Group 7"/>
          <p:cNvGrpSpPr/>
          <p:nvPr/>
        </p:nvGrpSpPr>
        <p:grpSpPr>
          <a:xfrm>
            <a:off x="735587" y="6653893"/>
            <a:ext cx="992464" cy="992464"/>
            <a:chOff x="0" y="0"/>
            <a:chExt cx="992462" cy="992462"/>
          </a:xfrm>
        </p:grpSpPr>
        <p:sp>
          <p:nvSpPr>
            <p:cNvPr id="423" name="Freeform 8"/>
            <p:cNvSpPr/>
            <p:nvPr/>
          </p:nvSpPr>
          <p:spPr>
            <a:xfrm>
              <a:off x="0" y="0"/>
              <a:ext cx="992463" cy="992463"/>
            </a:xfrm>
            <a:prstGeom prst="ellipse">
              <a:avLst/>
            </a:prstGeom>
            <a:solidFill>
              <a:srgbClr val="FD622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24" name="TextBox 9"/>
            <p:cNvSpPr txBox="1"/>
            <p:nvPr/>
          </p:nvSpPr>
          <p:spPr>
            <a:xfrm>
              <a:off x="93043" y="187530"/>
              <a:ext cx="806377" cy="54761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3700"/>
                </a:lnSpc>
                <a:defRPr sz="2400" b="1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8(B)</a:t>
              </a:r>
            </a:p>
          </p:txBody>
        </p:sp>
      </p:grpSp>
      <p:grpSp>
        <p:nvGrpSpPr>
          <p:cNvPr id="428" name="Group 10"/>
          <p:cNvGrpSpPr/>
          <p:nvPr/>
        </p:nvGrpSpPr>
        <p:grpSpPr>
          <a:xfrm>
            <a:off x="977740" y="3315742"/>
            <a:ext cx="508159" cy="543806"/>
            <a:chOff x="0" y="0"/>
            <a:chExt cx="508157" cy="543804"/>
          </a:xfrm>
        </p:grpSpPr>
        <p:sp>
          <p:nvSpPr>
            <p:cNvPr id="426" name="Freeform 11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27" name="TextBox 12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3</a:t>
              </a:r>
            </a:p>
          </p:txBody>
        </p:sp>
      </p:grpSp>
      <p:grpSp>
        <p:nvGrpSpPr>
          <p:cNvPr id="431" name="Group 13"/>
          <p:cNvGrpSpPr/>
          <p:nvPr/>
        </p:nvGrpSpPr>
        <p:grpSpPr>
          <a:xfrm>
            <a:off x="977740" y="1982348"/>
            <a:ext cx="508159" cy="543806"/>
            <a:chOff x="0" y="0"/>
            <a:chExt cx="508157" cy="543804"/>
          </a:xfrm>
        </p:grpSpPr>
        <p:sp>
          <p:nvSpPr>
            <p:cNvPr id="429" name="Freeform 14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30" name="TextBox 15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1</a:t>
              </a:r>
            </a:p>
          </p:txBody>
        </p:sp>
      </p:grpSp>
      <p:grpSp>
        <p:nvGrpSpPr>
          <p:cNvPr id="434" name="Group 16"/>
          <p:cNvGrpSpPr/>
          <p:nvPr/>
        </p:nvGrpSpPr>
        <p:grpSpPr>
          <a:xfrm>
            <a:off x="977740" y="3983373"/>
            <a:ext cx="508159" cy="543806"/>
            <a:chOff x="0" y="0"/>
            <a:chExt cx="508157" cy="543804"/>
          </a:xfrm>
        </p:grpSpPr>
        <p:sp>
          <p:nvSpPr>
            <p:cNvPr id="432" name="Freeform 17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33" name="TextBox 18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4</a:t>
              </a:r>
            </a:p>
          </p:txBody>
        </p:sp>
      </p:grpSp>
      <p:grpSp>
        <p:nvGrpSpPr>
          <p:cNvPr id="437" name="Group 19"/>
          <p:cNvGrpSpPr/>
          <p:nvPr/>
        </p:nvGrpSpPr>
        <p:grpSpPr>
          <a:xfrm>
            <a:off x="977740" y="2648112"/>
            <a:ext cx="508159" cy="543806"/>
            <a:chOff x="0" y="0"/>
            <a:chExt cx="508157" cy="543804"/>
          </a:xfrm>
        </p:grpSpPr>
        <p:sp>
          <p:nvSpPr>
            <p:cNvPr id="435" name="Freeform 20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36" name="TextBox 21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2</a:t>
              </a:r>
            </a:p>
          </p:txBody>
        </p:sp>
      </p:grpSp>
      <p:grpSp>
        <p:nvGrpSpPr>
          <p:cNvPr id="440" name="Group 22"/>
          <p:cNvGrpSpPr/>
          <p:nvPr/>
        </p:nvGrpSpPr>
        <p:grpSpPr>
          <a:xfrm>
            <a:off x="977740" y="5318633"/>
            <a:ext cx="508159" cy="543806"/>
            <a:chOff x="0" y="0"/>
            <a:chExt cx="508157" cy="543804"/>
          </a:xfrm>
        </p:grpSpPr>
        <p:sp>
          <p:nvSpPr>
            <p:cNvPr id="438" name="Freeform 23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39" name="TextBox 24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6</a:t>
              </a:r>
            </a:p>
          </p:txBody>
        </p:sp>
      </p:grpSp>
      <p:grpSp>
        <p:nvGrpSpPr>
          <p:cNvPr id="443" name="Group 25"/>
          <p:cNvGrpSpPr/>
          <p:nvPr/>
        </p:nvGrpSpPr>
        <p:grpSpPr>
          <a:xfrm>
            <a:off x="977740" y="4651002"/>
            <a:ext cx="508159" cy="543806"/>
            <a:chOff x="0" y="0"/>
            <a:chExt cx="508157" cy="543804"/>
          </a:xfrm>
        </p:grpSpPr>
        <p:sp>
          <p:nvSpPr>
            <p:cNvPr id="441" name="Freeform 26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42" name="TextBox 27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5</a:t>
              </a:r>
            </a:p>
          </p:txBody>
        </p:sp>
      </p:grpSp>
      <p:grpSp>
        <p:nvGrpSpPr>
          <p:cNvPr id="446" name="Group 28"/>
          <p:cNvGrpSpPr/>
          <p:nvPr/>
        </p:nvGrpSpPr>
        <p:grpSpPr>
          <a:xfrm>
            <a:off x="977740" y="5986264"/>
            <a:ext cx="508159" cy="543806"/>
            <a:chOff x="0" y="0"/>
            <a:chExt cx="508157" cy="543804"/>
          </a:xfrm>
        </p:grpSpPr>
        <p:sp>
          <p:nvSpPr>
            <p:cNvPr id="444" name="Freeform 29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45" name="TextBox 30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7</a:t>
              </a:r>
            </a:p>
          </p:txBody>
        </p:sp>
      </p:grpSp>
      <p:grpSp>
        <p:nvGrpSpPr>
          <p:cNvPr id="449" name="Group 31"/>
          <p:cNvGrpSpPr/>
          <p:nvPr/>
        </p:nvGrpSpPr>
        <p:grpSpPr>
          <a:xfrm>
            <a:off x="977740" y="7760845"/>
            <a:ext cx="508159" cy="543806"/>
            <a:chOff x="0" y="0"/>
            <a:chExt cx="508157" cy="543804"/>
          </a:xfrm>
        </p:grpSpPr>
        <p:sp>
          <p:nvSpPr>
            <p:cNvPr id="447" name="Freeform 32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48" name="TextBox 33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9</a:t>
              </a:r>
            </a:p>
          </p:txBody>
        </p:sp>
      </p:grpSp>
      <p:sp>
        <p:nvSpPr>
          <p:cNvPr id="450" name="Freeform 34"/>
          <p:cNvSpPr/>
          <p:nvPr/>
        </p:nvSpPr>
        <p:spPr>
          <a:xfrm>
            <a:off x="16313419" y="1028699"/>
            <a:ext cx="945881" cy="236471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52" name="TextBox 42"/>
          <p:cNvSpPr txBox="1"/>
          <p:nvPr/>
        </p:nvSpPr>
        <p:spPr>
          <a:xfrm>
            <a:off x="198119" y="342899"/>
            <a:ext cx="17815562" cy="7640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4800" b="1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IMPLEMENTATION SCREENSHOTS</a:t>
            </a:r>
          </a:p>
        </p:txBody>
      </p:sp>
      <p:sp>
        <p:nvSpPr>
          <p:cNvPr id="453" name="TextBox 2"/>
          <p:cNvSpPr txBox="1"/>
          <p:nvPr/>
        </p:nvSpPr>
        <p:spPr>
          <a:xfrm>
            <a:off x="2133599" y="1714499"/>
            <a:ext cx="14990886" cy="18158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2800" b="1"/>
            </a:pPr>
            <a:r>
              <a:rPr lang="en-IN" dirty="0"/>
              <a:t>LOGIN PAGE</a:t>
            </a:r>
            <a:endParaRPr dirty="0"/>
          </a:p>
          <a:p>
            <a:pPr marL="457200" indent="-457200">
              <a:buSzPct val="100000"/>
              <a:buFont typeface="Arial"/>
              <a:buChar char="•"/>
              <a:defRPr sz="2800"/>
            </a:pPr>
            <a:r>
              <a:rPr dirty="0"/>
              <a:t>This module displays the </a:t>
            </a:r>
            <a:r>
              <a:rPr lang="en-IN" dirty="0"/>
              <a:t>login details along with “if u don’t have account we need to create new </a:t>
            </a:r>
            <a:r>
              <a:rPr lang="en-IN" dirty="0" err="1"/>
              <a:t>account”details</a:t>
            </a:r>
            <a:r>
              <a:rPr lang="en-IN" dirty="0"/>
              <a:t>.</a:t>
            </a:r>
            <a:endParaRPr dirty="0"/>
          </a:p>
          <a:p>
            <a:pPr marL="457200" indent="-457200">
              <a:buSzPct val="100000"/>
              <a:buFont typeface="Arial"/>
              <a:buChar char="•"/>
              <a:defRPr sz="2800"/>
            </a:pPr>
            <a:r>
              <a:rPr dirty="0"/>
              <a:t>Users can </a:t>
            </a:r>
            <a:r>
              <a:rPr lang="en-IN" dirty="0"/>
              <a:t>enter into main portal.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969D3C3-C056-5AED-774A-7B88C61657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2156" y="3518180"/>
            <a:ext cx="5518802" cy="6507359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9" name="Group 7"/>
          <p:cNvGrpSpPr/>
          <p:nvPr/>
        </p:nvGrpSpPr>
        <p:grpSpPr>
          <a:xfrm>
            <a:off x="735587" y="6653893"/>
            <a:ext cx="992464" cy="992464"/>
            <a:chOff x="0" y="0"/>
            <a:chExt cx="992462" cy="992462"/>
          </a:xfrm>
        </p:grpSpPr>
        <p:sp>
          <p:nvSpPr>
            <p:cNvPr id="457" name="Freeform 8"/>
            <p:cNvSpPr/>
            <p:nvPr/>
          </p:nvSpPr>
          <p:spPr>
            <a:xfrm>
              <a:off x="0" y="0"/>
              <a:ext cx="992463" cy="992463"/>
            </a:xfrm>
            <a:prstGeom prst="ellipse">
              <a:avLst/>
            </a:prstGeom>
            <a:solidFill>
              <a:srgbClr val="FD622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58" name="TextBox 9"/>
            <p:cNvSpPr txBox="1"/>
            <p:nvPr/>
          </p:nvSpPr>
          <p:spPr>
            <a:xfrm>
              <a:off x="93043" y="187530"/>
              <a:ext cx="806377" cy="54761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3700"/>
                </a:lnSpc>
                <a:defRPr sz="2400" b="1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8(C)</a:t>
              </a:r>
            </a:p>
          </p:txBody>
        </p:sp>
      </p:grpSp>
      <p:grpSp>
        <p:nvGrpSpPr>
          <p:cNvPr id="462" name="Group 10"/>
          <p:cNvGrpSpPr/>
          <p:nvPr/>
        </p:nvGrpSpPr>
        <p:grpSpPr>
          <a:xfrm>
            <a:off x="977740" y="3315742"/>
            <a:ext cx="508159" cy="543806"/>
            <a:chOff x="0" y="0"/>
            <a:chExt cx="508157" cy="543804"/>
          </a:xfrm>
        </p:grpSpPr>
        <p:sp>
          <p:nvSpPr>
            <p:cNvPr id="460" name="Freeform 11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61" name="TextBox 12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3</a:t>
              </a:r>
            </a:p>
          </p:txBody>
        </p:sp>
      </p:grpSp>
      <p:grpSp>
        <p:nvGrpSpPr>
          <p:cNvPr id="465" name="Group 13"/>
          <p:cNvGrpSpPr/>
          <p:nvPr/>
        </p:nvGrpSpPr>
        <p:grpSpPr>
          <a:xfrm>
            <a:off x="977740" y="1982348"/>
            <a:ext cx="508159" cy="543806"/>
            <a:chOff x="0" y="0"/>
            <a:chExt cx="508157" cy="543804"/>
          </a:xfrm>
        </p:grpSpPr>
        <p:sp>
          <p:nvSpPr>
            <p:cNvPr id="463" name="Freeform 14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64" name="TextBox 15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1</a:t>
              </a:r>
            </a:p>
          </p:txBody>
        </p:sp>
      </p:grpSp>
      <p:grpSp>
        <p:nvGrpSpPr>
          <p:cNvPr id="468" name="Group 16"/>
          <p:cNvGrpSpPr/>
          <p:nvPr/>
        </p:nvGrpSpPr>
        <p:grpSpPr>
          <a:xfrm>
            <a:off x="977740" y="3983373"/>
            <a:ext cx="508159" cy="543806"/>
            <a:chOff x="0" y="0"/>
            <a:chExt cx="508157" cy="543804"/>
          </a:xfrm>
        </p:grpSpPr>
        <p:sp>
          <p:nvSpPr>
            <p:cNvPr id="466" name="Freeform 17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67" name="TextBox 18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4</a:t>
              </a:r>
            </a:p>
          </p:txBody>
        </p:sp>
      </p:grpSp>
      <p:grpSp>
        <p:nvGrpSpPr>
          <p:cNvPr id="471" name="Group 19"/>
          <p:cNvGrpSpPr/>
          <p:nvPr/>
        </p:nvGrpSpPr>
        <p:grpSpPr>
          <a:xfrm>
            <a:off x="977740" y="2648112"/>
            <a:ext cx="508159" cy="543806"/>
            <a:chOff x="0" y="0"/>
            <a:chExt cx="508157" cy="543804"/>
          </a:xfrm>
        </p:grpSpPr>
        <p:sp>
          <p:nvSpPr>
            <p:cNvPr id="469" name="Freeform 20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70" name="TextBox 21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2</a:t>
              </a:r>
            </a:p>
          </p:txBody>
        </p:sp>
      </p:grpSp>
      <p:grpSp>
        <p:nvGrpSpPr>
          <p:cNvPr id="474" name="Group 22"/>
          <p:cNvGrpSpPr/>
          <p:nvPr/>
        </p:nvGrpSpPr>
        <p:grpSpPr>
          <a:xfrm>
            <a:off x="977740" y="5318633"/>
            <a:ext cx="508159" cy="543806"/>
            <a:chOff x="0" y="0"/>
            <a:chExt cx="508157" cy="543804"/>
          </a:xfrm>
        </p:grpSpPr>
        <p:sp>
          <p:nvSpPr>
            <p:cNvPr id="472" name="Freeform 23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73" name="TextBox 24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6</a:t>
              </a:r>
            </a:p>
          </p:txBody>
        </p:sp>
      </p:grpSp>
      <p:grpSp>
        <p:nvGrpSpPr>
          <p:cNvPr id="477" name="Group 25"/>
          <p:cNvGrpSpPr/>
          <p:nvPr/>
        </p:nvGrpSpPr>
        <p:grpSpPr>
          <a:xfrm>
            <a:off x="977740" y="4651002"/>
            <a:ext cx="508159" cy="543806"/>
            <a:chOff x="0" y="0"/>
            <a:chExt cx="508157" cy="543804"/>
          </a:xfrm>
        </p:grpSpPr>
        <p:sp>
          <p:nvSpPr>
            <p:cNvPr id="475" name="Freeform 26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76" name="TextBox 27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5</a:t>
              </a:r>
            </a:p>
          </p:txBody>
        </p:sp>
      </p:grpSp>
      <p:grpSp>
        <p:nvGrpSpPr>
          <p:cNvPr id="480" name="Group 28"/>
          <p:cNvGrpSpPr/>
          <p:nvPr/>
        </p:nvGrpSpPr>
        <p:grpSpPr>
          <a:xfrm>
            <a:off x="977740" y="5986264"/>
            <a:ext cx="508159" cy="543806"/>
            <a:chOff x="0" y="0"/>
            <a:chExt cx="508157" cy="543804"/>
          </a:xfrm>
        </p:grpSpPr>
        <p:sp>
          <p:nvSpPr>
            <p:cNvPr id="478" name="Freeform 29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79" name="TextBox 30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7</a:t>
              </a:r>
            </a:p>
          </p:txBody>
        </p:sp>
      </p:grpSp>
      <p:grpSp>
        <p:nvGrpSpPr>
          <p:cNvPr id="483" name="Group 31"/>
          <p:cNvGrpSpPr/>
          <p:nvPr/>
        </p:nvGrpSpPr>
        <p:grpSpPr>
          <a:xfrm>
            <a:off x="977740" y="7760845"/>
            <a:ext cx="508159" cy="543806"/>
            <a:chOff x="0" y="0"/>
            <a:chExt cx="508157" cy="543804"/>
          </a:xfrm>
        </p:grpSpPr>
        <p:sp>
          <p:nvSpPr>
            <p:cNvPr id="481" name="Freeform 32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82" name="TextBox 33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9</a:t>
              </a:r>
            </a:p>
          </p:txBody>
        </p:sp>
      </p:grpSp>
      <p:sp>
        <p:nvSpPr>
          <p:cNvPr id="484" name="Freeform 34"/>
          <p:cNvSpPr/>
          <p:nvPr/>
        </p:nvSpPr>
        <p:spPr>
          <a:xfrm>
            <a:off x="16313419" y="1028699"/>
            <a:ext cx="945881" cy="236471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86" name="TextBox 42"/>
          <p:cNvSpPr txBox="1"/>
          <p:nvPr/>
        </p:nvSpPr>
        <p:spPr>
          <a:xfrm>
            <a:off x="198119" y="342899"/>
            <a:ext cx="17815562" cy="7640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4800" b="1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IMPLEMENTATION SCREENSHOTS</a:t>
            </a:r>
          </a:p>
        </p:txBody>
      </p:sp>
      <p:sp>
        <p:nvSpPr>
          <p:cNvPr id="487" name="TextBox 4"/>
          <p:cNvSpPr txBox="1"/>
          <p:nvPr/>
        </p:nvSpPr>
        <p:spPr>
          <a:xfrm>
            <a:off x="1492687" y="1456903"/>
            <a:ext cx="16520992" cy="18158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2800" b="1"/>
            </a:pPr>
            <a:r>
              <a:rPr dirty="0"/>
              <a:t>Output Page (Live Dashboard)</a:t>
            </a:r>
          </a:p>
          <a:p>
            <a:pPr>
              <a:buSzPct val="100000"/>
              <a:buFont typeface="Arial"/>
              <a:buChar char="•"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The Output Page displays</a:t>
            </a:r>
            <a:r>
              <a:rPr lang="en-IN" dirty="0"/>
              <a:t> whether we have received any emails about job offers.</a:t>
            </a:r>
            <a:endParaRPr dirty="0"/>
          </a:p>
          <a:p>
            <a:pPr>
              <a:buSzPct val="100000"/>
              <a:buFont typeface="Arial"/>
              <a:buChar char="•"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IN" dirty="0"/>
              <a:t>If we have any offer letter ,we can also try to get a new job</a:t>
            </a:r>
          </a:p>
          <a:p>
            <a:pPr>
              <a:buSzPct val="100000"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CDD9DBF-F188-E59F-0FD1-B5305452DF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0646" y="3191919"/>
            <a:ext cx="15345073" cy="5677921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2" name="Group 5"/>
          <p:cNvGrpSpPr/>
          <p:nvPr/>
        </p:nvGrpSpPr>
        <p:grpSpPr>
          <a:xfrm>
            <a:off x="735587" y="7321525"/>
            <a:ext cx="992464" cy="992464"/>
            <a:chOff x="0" y="0"/>
            <a:chExt cx="992462" cy="992462"/>
          </a:xfrm>
        </p:grpSpPr>
        <p:sp>
          <p:nvSpPr>
            <p:cNvPr id="490" name="Freeform 6"/>
            <p:cNvSpPr/>
            <p:nvPr/>
          </p:nvSpPr>
          <p:spPr>
            <a:xfrm>
              <a:off x="0" y="0"/>
              <a:ext cx="992463" cy="992463"/>
            </a:xfrm>
            <a:prstGeom prst="ellipse">
              <a:avLst/>
            </a:prstGeom>
            <a:solidFill>
              <a:srgbClr val="FD622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91" name="TextBox 7"/>
            <p:cNvSpPr txBox="1"/>
            <p:nvPr/>
          </p:nvSpPr>
          <p:spPr>
            <a:xfrm>
              <a:off x="93043" y="183149"/>
              <a:ext cx="806377" cy="5563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3700"/>
                </a:lnSpc>
                <a:defRPr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9</a:t>
              </a:r>
            </a:p>
          </p:txBody>
        </p:sp>
      </p:grpSp>
      <p:grpSp>
        <p:nvGrpSpPr>
          <p:cNvPr id="495" name="Group 8"/>
          <p:cNvGrpSpPr/>
          <p:nvPr/>
        </p:nvGrpSpPr>
        <p:grpSpPr>
          <a:xfrm>
            <a:off x="977740" y="3315742"/>
            <a:ext cx="508159" cy="543806"/>
            <a:chOff x="0" y="0"/>
            <a:chExt cx="508157" cy="543804"/>
          </a:xfrm>
        </p:grpSpPr>
        <p:sp>
          <p:nvSpPr>
            <p:cNvPr id="493" name="Freeform 9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94" name="TextBox 10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3</a:t>
              </a:r>
            </a:p>
          </p:txBody>
        </p:sp>
      </p:grpSp>
      <p:grpSp>
        <p:nvGrpSpPr>
          <p:cNvPr id="498" name="Group 11"/>
          <p:cNvGrpSpPr/>
          <p:nvPr/>
        </p:nvGrpSpPr>
        <p:grpSpPr>
          <a:xfrm>
            <a:off x="977740" y="1982348"/>
            <a:ext cx="508159" cy="543806"/>
            <a:chOff x="0" y="0"/>
            <a:chExt cx="508157" cy="543804"/>
          </a:xfrm>
        </p:grpSpPr>
        <p:sp>
          <p:nvSpPr>
            <p:cNvPr id="496" name="Freeform 12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97" name="TextBox 13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1</a:t>
              </a:r>
            </a:p>
          </p:txBody>
        </p:sp>
      </p:grpSp>
      <p:grpSp>
        <p:nvGrpSpPr>
          <p:cNvPr id="501" name="Group 14"/>
          <p:cNvGrpSpPr/>
          <p:nvPr/>
        </p:nvGrpSpPr>
        <p:grpSpPr>
          <a:xfrm>
            <a:off x="977740" y="3983373"/>
            <a:ext cx="508159" cy="543806"/>
            <a:chOff x="0" y="0"/>
            <a:chExt cx="508157" cy="543804"/>
          </a:xfrm>
        </p:grpSpPr>
        <p:sp>
          <p:nvSpPr>
            <p:cNvPr id="499" name="Freeform 15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500" name="TextBox 16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4</a:t>
              </a:r>
            </a:p>
          </p:txBody>
        </p:sp>
      </p:grpSp>
      <p:grpSp>
        <p:nvGrpSpPr>
          <p:cNvPr id="504" name="Group 17"/>
          <p:cNvGrpSpPr/>
          <p:nvPr/>
        </p:nvGrpSpPr>
        <p:grpSpPr>
          <a:xfrm>
            <a:off x="977740" y="2648112"/>
            <a:ext cx="508159" cy="543806"/>
            <a:chOff x="0" y="0"/>
            <a:chExt cx="508157" cy="543804"/>
          </a:xfrm>
        </p:grpSpPr>
        <p:sp>
          <p:nvSpPr>
            <p:cNvPr id="502" name="Freeform 18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503" name="TextBox 19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2</a:t>
              </a:r>
            </a:p>
          </p:txBody>
        </p:sp>
      </p:grpSp>
      <p:grpSp>
        <p:nvGrpSpPr>
          <p:cNvPr id="507" name="Group 20"/>
          <p:cNvGrpSpPr/>
          <p:nvPr/>
        </p:nvGrpSpPr>
        <p:grpSpPr>
          <a:xfrm>
            <a:off x="977740" y="5318633"/>
            <a:ext cx="508159" cy="543806"/>
            <a:chOff x="0" y="0"/>
            <a:chExt cx="508157" cy="543804"/>
          </a:xfrm>
        </p:grpSpPr>
        <p:sp>
          <p:nvSpPr>
            <p:cNvPr id="505" name="Freeform 21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506" name="TextBox 22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6</a:t>
              </a:r>
            </a:p>
          </p:txBody>
        </p:sp>
      </p:grpSp>
      <p:grpSp>
        <p:nvGrpSpPr>
          <p:cNvPr id="510" name="Group 23"/>
          <p:cNvGrpSpPr/>
          <p:nvPr/>
        </p:nvGrpSpPr>
        <p:grpSpPr>
          <a:xfrm>
            <a:off x="977740" y="4651002"/>
            <a:ext cx="508159" cy="543806"/>
            <a:chOff x="0" y="0"/>
            <a:chExt cx="508157" cy="543804"/>
          </a:xfrm>
        </p:grpSpPr>
        <p:sp>
          <p:nvSpPr>
            <p:cNvPr id="508" name="Freeform 24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509" name="TextBox 25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5</a:t>
              </a:r>
            </a:p>
          </p:txBody>
        </p:sp>
      </p:grpSp>
      <p:grpSp>
        <p:nvGrpSpPr>
          <p:cNvPr id="513" name="Group 26"/>
          <p:cNvGrpSpPr/>
          <p:nvPr/>
        </p:nvGrpSpPr>
        <p:grpSpPr>
          <a:xfrm>
            <a:off x="977740" y="5986264"/>
            <a:ext cx="508159" cy="543806"/>
            <a:chOff x="0" y="0"/>
            <a:chExt cx="508157" cy="543804"/>
          </a:xfrm>
        </p:grpSpPr>
        <p:sp>
          <p:nvSpPr>
            <p:cNvPr id="511" name="Freeform 27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512" name="TextBox 28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7</a:t>
              </a:r>
            </a:p>
          </p:txBody>
        </p:sp>
      </p:grpSp>
      <p:grpSp>
        <p:nvGrpSpPr>
          <p:cNvPr id="516" name="Group 29"/>
          <p:cNvGrpSpPr/>
          <p:nvPr/>
        </p:nvGrpSpPr>
        <p:grpSpPr>
          <a:xfrm>
            <a:off x="977740" y="6653893"/>
            <a:ext cx="508159" cy="543806"/>
            <a:chOff x="0" y="0"/>
            <a:chExt cx="508157" cy="543804"/>
          </a:xfrm>
        </p:grpSpPr>
        <p:sp>
          <p:nvSpPr>
            <p:cNvPr id="514" name="Freeform 30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515" name="TextBox 31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r>
                <a:t>8</a:t>
              </a:r>
            </a:p>
          </p:txBody>
        </p:sp>
      </p:grpSp>
      <p:sp>
        <p:nvSpPr>
          <p:cNvPr id="517" name="Freeform 32"/>
          <p:cNvSpPr/>
          <p:nvPr/>
        </p:nvSpPr>
        <p:spPr>
          <a:xfrm>
            <a:off x="16313419" y="1028699"/>
            <a:ext cx="945881" cy="236471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19" name="TextBox 1"/>
          <p:cNvSpPr txBox="1"/>
          <p:nvPr/>
        </p:nvSpPr>
        <p:spPr>
          <a:xfrm>
            <a:off x="236219" y="290492"/>
            <a:ext cx="17815562" cy="7640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4800" b="1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ADVANTAGES &amp; LIMITATIONS</a:t>
            </a:r>
          </a:p>
        </p:txBody>
      </p:sp>
      <p:sp>
        <p:nvSpPr>
          <p:cNvPr id="520" name="Text Box 2"/>
          <p:cNvSpPr txBox="1"/>
          <p:nvPr/>
        </p:nvSpPr>
        <p:spPr>
          <a:xfrm>
            <a:off x="2385694" y="2090420"/>
            <a:ext cx="13970637" cy="5232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2000"/>
              </a:spcBef>
              <a:defRPr sz="2800" b="1"/>
            </a:pP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5E1D27-EE98-CBD1-2F87-C962ADA4AE68}"/>
              </a:ext>
            </a:extLst>
          </p:cNvPr>
          <p:cNvSpPr txBox="1"/>
          <p:nvPr/>
        </p:nvSpPr>
        <p:spPr>
          <a:xfrm>
            <a:off x="1958841" y="1265170"/>
            <a:ext cx="15297284" cy="858696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 centralized platform for job seekers and employers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manual effort in the recruitment process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Saves time for both applicants and recruiters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job search with filters like location, skills, and experience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quick and online job application submission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tracking of application status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communication between candidates and employers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User-friendly interface for better usability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data handling with authentication mechanisms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 system that can handle multiple users </a:t>
            </a:r>
          </a:p>
          <a:p>
            <a:pPr>
              <a:buNone/>
            </a:pPr>
            <a:b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a stable internet connection to function properly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security features may need further enhancement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advanced analytics and reporting features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performance may reduce with very high user load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 setup and maintenance require technical knowledge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of data privacy issues if not properly secured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personalization of job recommendations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Dependence on accurate user input data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regular updates and maintenance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suitable for offline usage </a:t>
            </a:r>
          </a:p>
        </p:txBody>
      </p:sp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Freeform 32"/>
          <p:cNvSpPr/>
          <p:nvPr/>
        </p:nvSpPr>
        <p:spPr>
          <a:xfrm>
            <a:off x="16313419" y="1028699"/>
            <a:ext cx="945881" cy="236471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23" name="TextBox 43"/>
          <p:cNvSpPr txBox="1"/>
          <p:nvPr/>
        </p:nvSpPr>
        <p:spPr>
          <a:xfrm>
            <a:off x="3200400" y="4486171"/>
            <a:ext cx="11159653" cy="13503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10100"/>
              </a:lnSpc>
              <a:defRPr sz="11100" b="1" i="1">
                <a:solidFill>
                  <a:srgbClr val="191919"/>
                </a:solidFill>
                <a:latin typeface="Gotham Bold Italics"/>
                <a:ea typeface="Gotham Bold Italics"/>
                <a:cs typeface="Gotham Bold Italics"/>
                <a:sym typeface="Gotham Bold Italics"/>
              </a:defRPr>
            </a:lvl1pPr>
          </a:lstStyle>
          <a:p>
            <a:r>
              <a:t>Thank you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1700</Words>
  <Application>Microsoft Office PowerPoint</Application>
  <PresentationFormat>Custom</PresentationFormat>
  <Paragraphs>297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Admin</dc:creator>
  <cp:lastModifiedBy>nithishkakarla2005@gmail.com</cp:lastModifiedBy>
  <cp:revision>2</cp:revision>
  <dcterms:modified xsi:type="dcterms:W3CDTF">2026-05-06T04:21:22Z</dcterms:modified>
</cp:coreProperties>
</file>