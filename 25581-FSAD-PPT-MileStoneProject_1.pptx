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SUBSCRIPTION-BASED MEMBERSHIP ENGINE WITH TIERED LOGIC </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B.Vishnu</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vardhan</a:t>
            </a:r>
            <a:r>
              <a:rPr lang="en-US" sz="3000" dirty="0">
                <a:latin typeface="Cambria" panose="02040503050406030204" pitchFamily="18" charset="0"/>
                <a:ea typeface="Cambria" panose="02040503050406030204" pitchFamily="18" charset="0"/>
              </a:rPr>
              <a:t>– VTU24685 – Reg.No:23UECS1020</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Dr.HAFIZUR</a:t>
            </a:r>
            <a:r>
              <a:rPr lang="en-US" sz="3000" dirty="0">
                <a:latin typeface="Cambria" panose="02040503050406030204" pitchFamily="18" charset="0"/>
                <a:ea typeface="Cambria" panose="02040503050406030204" pitchFamily="18" charset="0"/>
              </a:rPr>
              <a:t> RAHMAN</a:t>
            </a:r>
          </a:p>
          <a:p>
            <a:pPr>
              <a:lnSpc>
                <a:spcPct val="150000"/>
              </a:lnSpc>
            </a:pPr>
            <a:r>
              <a:rPr lang="en-US" sz="3000">
                <a:latin typeface="Cambria" panose="02040503050406030204" pitchFamily="18" charset="0"/>
                <a:ea typeface="Cambria" panose="02040503050406030204" pitchFamily="18" charset="0"/>
              </a:rPr>
              <a:t>(TTS3985)</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3449836"/>
          </a:xfrm>
          <a:prstGeom prst="rect">
            <a:avLst/>
          </a:prstGeom>
          <a:noFill/>
        </p:spPr>
        <p:txBody>
          <a:bodyPr wrap="square" rtlCol="0">
            <a:spAutoFit/>
          </a:bodyPr>
          <a:lstStyle/>
          <a:p>
            <a:r>
              <a:rPr lang="en-US" sz="2800" b="1" dirty="0"/>
              <a:t>Background of the problem </a:t>
            </a:r>
            <a:r>
              <a:rPr lang="en-US" sz="2800" dirty="0"/>
              <a:t>: Many universities manage student memberships manually, making it difficult to track subscription status and expiry dates. Manual systems can lead to errors and delays in updating records. Students and administrators may not get accurate information on time. Therefore, a digital system is needed to improve efficiency and accuracy.</a:t>
            </a:r>
          </a:p>
          <a:p>
            <a:endParaRPr lang="en-US" sz="2800" dirty="0"/>
          </a:p>
          <a:p>
            <a:r>
              <a:rPr lang="en-US" sz="2800" b="1" dirty="0"/>
              <a:t>Why this project is important</a:t>
            </a:r>
            <a:r>
              <a:rPr lang="en-US" sz="2800" dirty="0"/>
              <a:t> : This project automates the membership management process and reduces manual work. It ensures secure storage of student data in a database. The system provides role-based access for students and administrators. It improves transparency and overall efficiency.</a:t>
            </a:r>
          </a:p>
          <a:p>
            <a:endParaRPr lang="en-US" sz="2800" dirty="0"/>
          </a:p>
          <a:p>
            <a:r>
              <a:rPr lang="en-US" sz="2800" b="1" dirty="0"/>
              <a:t>Real-world relevance : </a:t>
            </a:r>
            <a:r>
              <a:rPr lang="en-US" sz="2800" dirty="0"/>
              <a:t>Subscription systems are widely used in educational institutions and online platforms. Organizations require automated solutions to manage users and renewals. This project reflects real-world web application practices. It helps in understanding practical implementation of secure systems.</a:t>
            </a:r>
          </a:p>
          <a:p>
            <a:endParaRPr lang="en-US" sz="2800" b="1" dirty="0"/>
          </a:p>
          <a:p>
            <a:r>
              <a:rPr lang="en-US" sz="2800" b="1" dirty="0"/>
              <a:t>Brief overview of the system </a:t>
            </a:r>
            <a:r>
              <a:rPr lang="en-US" sz="2800" dirty="0"/>
              <a:t>: The portal is a web-based application built using PHP and MySQL. Students can register, select plans, and view expiry details. Administrators can manage users and extend subscriptions. The system ensures secure login and efficient data handling.</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3880723"/>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a:t>Problem Statement : </a:t>
            </a:r>
            <a:r>
              <a:rPr lang="en-US" sz="2800" dirty="0"/>
              <a:t>In many educational institutions, student membership and subscription services are managed manually or through basic record-keeping systems such as spreadsheets and paper documents. This traditional approach leads to issues like data redundancy, difficulty in tracking subscription expiry dates, delayed updates, and errors in maintaining student records. Administrators may find it challenging to manage multiple membership plans efficiently, and students may not have clear visibility of their subscription status. There is a need for a centralized, automated, and secure system to simplify membership management and improve accuracy.</a:t>
            </a:r>
          </a:p>
          <a:p>
            <a:pPr marL="457200" indent="-457200">
              <a:buFont typeface="Wingdings" panose="05000000000000000000" pitchFamily="2" charset="2"/>
              <a:buChar char="§"/>
            </a:pPr>
            <a:endParaRPr lang="en-US" sz="2800" dirty="0"/>
          </a:p>
          <a:p>
            <a:pPr marL="457200" indent="-457200">
              <a:buFont typeface="Wingdings" panose="05000000000000000000" pitchFamily="2" charset="2"/>
              <a:buChar char="§"/>
            </a:pPr>
            <a:r>
              <a:rPr lang="en-US" sz="2800" b="1" dirty="0"/>
              <a:t>Solution : </a:t>
            </a:r>
            <a:r>
              <a:rPr lang="en-US" sz="2800" dirty="0"/>
              <a:t>To address these challenges, the Student Membership Subscription Portal is proposed as a web-based system that automates the entire membership registration and management process. The portal provides a centralized platform where students can register, select subscription plans, and monitor their membership validity online. Administrators can manage users, update plans, and extend subscription periods efficiently. The system securely stores all data in a MySQL database, reduces manual workload, ensures accurate record maintenance, and provides real-time access to membership information. This solution improves efficiency, transparency, security, and overall institutional management.</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8710077"/>
          </a:xfrm>
          <a:prstGeom prst="rect">
            <a:avLst/>
          </a:prstGeom>
          <a:noFill/>
        </p:spPr>
        <p:txBody>
          <a:bodyPr wrap="square" rtlCol="0">
            <a:spAutoFit/>
          </a:bodyPr>
          <a:lstStyle/>
          <a:p>
            <a:pPr marL="457200" indent="-457200">
              <a:buFont typeface="Wingdings" panose="05000000000000000000" pitchFamily="2" charset="2"/>
              <a:buChar char="§"/>
            </a:pPr>
            <a:endParaRPr lang="en-US" sz="2800" b="1" dirty="0"/>
          </a:p>
          <a:p>
            <a:pPr marL="457200" indent="-457200">
              <a:buFont typeface="Wingdings" panose="05000000000000000000" pitchFamily="2" charset="2"/>
              <a:buChar char="§"/>
            </a:pPr>
            <a:r>
              <a:rPr lang="en-US" sz="2800" b="1" dirty="0"/>
              <a:t>To Design and Develop : </a:t>
            </a:r>
            <a:r>
              <a:rPr lang="en-US" sz="2800" dirty="0"/>
              <a:t>A centralized web-based Student Membership Subscription Portal to manage student registrations and subscription plans efficiently with real-time data management.</a:t>
            </a:r>
          </a:p>
          <a:p>
            <a:pPr marL="457200" indent="-457200">
              <a:buFont typeface="Wingdings" panose="05000000000000000000" pitchFamily="2" charset="2"/>
              <a:buChar char="§"/>
            </a:pPr>
            <a:endParaRPr lang="en-US" sz="2800" dirty="0"/>
          </a:p>
          <a:p>
            <a:pPr marL="457200" indent="-457200">
              <a:buFont typeface="Wingdings" panose="05000000000000000000" pitchFamily="2" charset="2"/>
              <a:buChar char="§"/>
            </a:pPr>
            <a:r>
              <a:rPr lang="en-US" sz="2800" b="1" dirty="0"/>
              <a:t>To Implement : </a:t>
            </a:r>
            <a:r>
              <a:rPr lang="en-US" sz="2800" dirty="0"/>
              <a:t>Secure student registration, login authentication, and admin subscription management using PHP and MySQL.</a:t>
            </a:r>
          </a:p>
          <a:p>
            <a:pPr marL="457200" indent="-457200">
              <a:buFont typeface="Wingdings" panose="05000000000000000000" pitchFamily="2" charset="2"/>
              <a:buChar char="§"/>
            </a:pPr>
            <a:endParaRPr lang="en-US" sz="2800" dirty="0"/>
          </a:p>
          <a:p>
            <a:pPr marL="457200" indent="-457200">
              <a:buFont typeface="Wingdings" panose="05000000000000000000" pitchFamily="2" charset="2"/>
              <a:buChar char="§"/>
            </a:pPr>
            <a:r>
              <a:rPr lang="en-US" sz="2800" b="1" dirty="0"/>
              <a:t>To Improve : </a:t>
            </a:r>
            <a:r>
              <a:rPr lang="en-US" sz="2800" dirty="0"/>
              <a:t>System efficiency and accuracy by reducing manual paperwork, avoiding duplicate entries, and automating membership tracking.</a:t>
            </a:r>
          </a:p>
          <a:p>
            <a:pPr marL="457200" indent="-457200">
              <a:buFont typeface="Wingdings" panose="05000000000000000000" pitchFamily="2" charset="2"/>
              <a:buChar char="§"/>
            </a:pPr>
            <a:endParaRPr lang="en-US" sz="2800" dirty="0"/>
          </a:p>
          <a:p>
            <a:pPr marL="457200" indent="-457200">
              <a:buFont typeface="Wingdings" panose="05000000000000000000" pitchFamily="2" charset="2"/>
              <a:buChar char="§"/>
            </a:pPr>
            <a:r>
              <a:rPr lang="en-US" sz="2800" b="1" dirty="0"/>
              <a:t>To Evaluate : </a:t>
            </a:r>
            <a:r>
              <a:rPr lang="en-US" sz="2800" dirty="0"/>
              <a:t>The performance of the system based on processing speed, data accuracy, secure access control, and overall user accessibility.</a:t>
            </a:r>
          </a:p>
          <a:p>
            <a:pPr marL="457200" indent="-457200">
              <a:buFont typeface="Wingdings" panose="05000000000000000000" pitchFamily="2" charset="2"/>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1972508"/>
          </a:xfrm>
          <a:prstGeom prst="rect">
            <a:avLst/>
          </a:prstGeom>
          <a:noFill/>
        </p:spPr>
        <p:txBody>
          <a:bodyPr wrap="square" rtlCol="0">
            <a:spAutoFit/>
          </a:bodyPr>
          <a:lstStyle/>
          <a:p>
            <a:pPr marL="342900" indent="-342900">
              <a:buFont typeface="Wingdings" panose="05000000000000000000" pitchFamily="2" charset="2"/>
              <a:buChar char="§"/>
            </a:pPr>
            <a:r>
              <a:rPr lang="en-US" sz="2400" b="1" dirty="0"/>
              <a:t>Description of the Solution : </a:t>
            </a:r>
            <a:r>
              <a:rPr lang="en-US" sz="2400" dirty="0"/>
              <a:t>The Student Membership Subscription Portal is a web-based application designed to automate and centralize student subscription management. The system allows administrators to manage student details, subscription plans, validity dates, and membership status. Students can register, log in, and subscribe to available plans through a simple and user-friendly interface. All data is securely stored in a MySQL database, enabling easy tracking, subscription extension, and real-time updates. The system ensures efficient management, reduces manual effort, and provides a structured and reliable platform for handling student memberships.</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b="1" dirty="0"/>
              <a:t>How It Solves Existing Issues:  </a:t>
            </a:r>
            <a:r>
              <a:rPr lang="en-US" sz="2400" dirty="0"/>
              <a:t>The proposed system replaces manual and unorganized subscription management with a centralized web-based platform. It eliminates paperwork, reduces duplicate records, ensures accurate data storage, and provides real-time membership updates. Administrators can easily manage subscriptions and monitor expiry dates, while students receive instant confirmation, making the entire process faster and more systematic.</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b="1" dirty="0"/>
              <a:t>Advantages Over Current Systems : </a:t>
            </a:r>
            <a:r>
              <a:rPr lang="en-US" sz="2400" dirty="0"/>
              <a:t>Compared to traditional methods, the proposed system is more efficient, secure, and reliable. It reduces administrative workload, improves data accuracy through database validation, and allows easy management of multiple subscription plans. The portal is scalable, user-friendly, and accessible, ensuring smooth coordination between students and administrators.</a:t>
            </a:r>
          </a:p>
          <a:p>
            <a:pPr lvl="1"/>
            <a:endParaRPr lang="en-US" sz="2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CA4959E-02BC-A9DF-479C-F50E25C87C34}"/>
              </a:ext>
            </a:extLst>
          </p:cNvPr>
          <p:cNvPicPr>
            <a:picLocks noChangeAspect="1"/>
          </p:cNvPicPr>
          <p:nvPr/>
        </p:nvPicPr>
        <p:blipFill>
          <a:blip r:embed="rId3"/>
          <a:stretch>
            <a:fillRect/>
          </a:stretch>
        </p:blipFill>
        <p:spPr>
          <a:xfrm>
            <a:off x="1828800" y="1373626"/>
            <a:ext cx="14630400" cy="86466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D6517E1-72E2-B3DC-39E9-EEBF63823596}"/>
              </a:ext>
            </a:extLst>
          </p:cNvPr>
          <p:cNvPicPr>
            <a:picLocks noChangeAspect="1"/>
          </p:cNvPicPr>
          <p:nvPr/>
        </p:nvPicPr>
        <p:blipFill>
          <a:blip r:embed="rId3"/>
          <a:stretch>
            <a:fillRect/>
          </a:stretch>
        </p:blipFill>
        <p:spPr>
          <a:xfrm>
            <a:off x="2358908" y="1638300"/>
            <a:ext cx="14100292" cy="8381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2157174"/>
          </a:xfrm>
          <a:prstGeom prst="rect">
            <a:avLst/>
          </a:prstGeom>
          <a:noFill/>
        </p:spPr>
        <p:txBody>
          <a:bodyPr wrap="square" rtlCol="0">
            <a:spAutoFit/>
          </a:bodyPr>
          <a:lstStyle/>
          <a:p>
            <a:pPr marL="457200" indent="-457200">
              <a:buFont typeface="Wingdings" panose="05000000000000000000" pitchFamily="2" charset="2"/>
              <a:buChar char="§"/>
            </a:pPr>
            <a:r>
              <a:rPr lang="en-IN" sz="2800" b="1" dirty="0"/>
              <a:t>Frontend:</a:t>
            </a:r>
            <a:r>
              <a:rPr lang="en-IN" sz="2800" dirty="0"/>
              <a:t> HTML5, CSS3, JavaScript (for designing user interface, creating responsive web pages, and performing client-side validation for registration and login forms).</a:t>
            </a:r>
          </a:p>
          <a:p>
            <a:pPr marL="457200" indent="-457200">
              <a:buFont typeface="Wingdings" panose="05000000000000000000" pitchFamily="2" charset="2"/>
              <a:buChar char="§"/>
            </a:pPr>
            <a:endParaRPr lang="en-IN" sz="2800" dirty="0"/>
          </a:p>
          <a:p>
            <a:pPr marL="457200" indent="-457200">
              <a:buFont typeface="Wingdings" panose="05000000000000000000" pitchFamily="2" charset="2"/>
              <a:buChar char="§"/>
            </a:pPr>
            <a:r>
              <a:rPr lang="en-IN" sz="2800" b="1" dirty="0"/>
              <a:t>Backend:</a:t>
            </a:r>
            <a:r>
              <a:rPr lang="en-IN" sz="2800" dirty="0"/>
              <a:t> PHP (for server-side processing, implementing business logic, handling form submissions, managing sessions, authenticating users, and communicating with the database).</a:t>
            </a:r>
          </a:p>
          <a:p>
            <a:pPr marL="457200" indent="-457200">
              <a:buFont typeface="Wingdings" panose="05000000000000000000" pitchFamily="2" charset="2"/>
              <a:buChar char="§"/>
            </a:pPr>
            <a:endParaRPr lang="en-IN" sz="2800" dirty="0"/>
          </a:p>
          <a:p>
            <a:pPr marL="457200" indent="-457200">
              <a:buFont typeface="Wingdings" panose="05000000000000000000" pitchFamily="2" charset="2"/>
              <a:buChar char="§"/>
            </a:pPr>
            <a:r>
              <a:rPr lang="en-IN" sz="2800" b="1" dirty="0"/>
              <a:t>Database:</a:t>
            </a:r>
            <a:r>
              <a:rPr lang="en-IN" sz="2800" dirty="0"/>
              <a:t> MySQL (for storing user account details, encrypted passwords, and membership records securely and efficiently).</a:t>
            </a:r>
          </a:p>
          <a:p>
            <a:pPr marL="457200" indent="-457200">
              <a:buFont typeface="Wingdings" panose="05000000000000000000" pitchFamily="2" charset="2"/>
              <a:buChar char="§"/>
            </a:pPr>
            <a:endParaRPr lang="en-IN" sz="2800" dirty="0"/>
          </a:p>
          <a:p>
            <a:pPr marL="457200" indent="-457200">
              <a:buFont typeface="Wingdings" panose="05000000000000000000" pitchFamily="2" charset="2"/>
              <a:buChar char="§"/>
            </a:pPr>
            <a:r>
              <a:rPr lang="en-IN" sz="2800" b="1" dirty="0"/>
              <a:t>Tools:</a:t>
            </a:r>
            <a:r>
              <a:rPr lang="en-IN" sz="2800" dirty="0"/>
              <a:t> XAMPP (Local Server environment with Apache and MySQL), Visual Studio Code (Code Editor), Web Browser such as Chrome or Edge (for testing and running the application).</a:t>
            </a:r>
          </a:p>
          <a:p>
            <a:pPr marL="457200" indent="-457200">
              <a:buFont typeface="Wingdings" panose="05000000000000000000" pitchFamily="2" charset="2"/>
              <a:buChar char="§"/>
            </a:pPr>
            <a:endParaRPr lang="en-IN" sz="2800" dirty="0"/>
          </a:p>
          <a:p>
            <a:pPr marL="457200" indent="-457200">
              <a:buFont typeface="Wingdings" panose="05000000000000000000" pitchFamily="2" charset="2"/>
              <a:buChar char="§"/>
            </a:pPr>
            <a:r>
              <a:rPr lang="en-IN" sz="2800" b="1" dirty="0"/>
              <a:t>Hardware/Software Requirements:</a:t>
            </a:r>
            <a:r>
              <a:rPr lang="en-IN" sz="2800" dirty="0"/>
              <a:t> Minimum 4GB RAM, Windows 10 or above, Apache Server (via XAMPP), MySQL Database, and a Modern Web Browser for accessing the system.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11726287"/>
          </a:xfrm>
          <a:prstGeom prst="rect">
            <a:avLst/>
          </a:prstGeom>
          <a:noFill/>
        </p:spPr>
        <p:txBody>
          <a:bodyPr wrap="square" rtlCol="0">
            <a:spAutoFit/>
          </a:bodyPr>
          <a:lstStyle/>
          <a:p>
            <a:r>
              <a:rPr lang="en-IN" sz="2800" b="1" dirty="0"/>
              <a:t>Module 1: User Management</a:t>
            </a:r>
          </a:p>
          <a:p>
            <a:pPr marL="457200" indent="-457200">
              <a:buFont typeface="Wingdings" panose="05000000000000000000" pitchFamily="2" charset="2"/>
              <a:buChar char="§"/>
            </a:pPr>
            <a:r>
              <a:rPr lang="en-US" sz="2800" dirty="0"/>
              <a:t>Handles user and admin registration, login, and authentication.</a:t>
            </a:r>
          </a:p>
          <a:p>
            <a:pPr marL="457200" indent="-457200">
              <a:buFont typeface="Wingdings" panose="05000000000000000000" pitchFamily="2" charset="2"/>
              <a:buChar char="§"/>
            </a:pPr>
            <a:r>
              <a:rPr lang="en-US" sz="2800" dirty="0"/>
              <a:t>Manages user profiles and ensures secure access to the system through password verification and session management.</a:t>
            </a:r>
          </a:p>
          <a:p>
            <a:pPr marL="457200" indent="-457200">
              <a:buFont typeface="Wingdings" panose="05000000000000000000" pitchFamily="2" charset="2"/>
              <a:buChar char="§"/>
            </a:pPr>
            <a:endParaRPr lang="en-IN" sz="2800" b="1" dirty="0"/>
          </a:p>
          <a:p>
            <a:r>
              <a:rPr lang="en-IN" sz="2800" b="1" dirty="0"/>
              <a:t>Module 2: Core Processing</a:t>
            </a:r>
          </a:p>
          <a:p>
            <a:pPr marL="457200" indent="-457200">
              <a:buFont typeface="Wingdings" panose="05000000000000000000" pitchFamily="2" charset="2"/>
              <a:buChar char="§"/>
            </a:pPr>
            <a:r>
              <a:rPr lang="en-US" sz="2800" dirty="0"/>
              <a:t>Allows administrators to create, update, delete, and manage membership details such as username, email, membership status, and account information.</a:t>
            </a:r>
          </a:p>
          <a:p>
            <a:pPr marL="457200" indent="-457200">
              <a:buFont typeface="Wingdings" panose="05000000000000000000" pitchFamily="2" charset="2"/>
              <a:buChar char="§"/>
            </a:pPr>
            <a:r>
              <a:rPr lang="en-US" sz="2800" dirty="0"/>
              <a:t>Ensures proper organization and control of member records within the system.</a:t>
            </a:r>
          </a:p>
          <a:p>
            <a:pPr marL="457200" indent="-457200">
              <a:buFont typeface="Wingdings" panose="05000000000000000000" pitchFamily="2" charset="2"/>
              <a:buChar char="§"/>
            </a:pPr>
            <a:endParaRPr lang="en-IN" sz="2800" b="1" dirty="0"/>
          </a:p>
          <a:p>
            <a:r>
              <a:rPr lang="en-IN" sz="2800" b="1" dirty="0"/>
              <a:t>Module 3: Database Management</a:t>
            </a:r>
          </a:p>
          <a:p>
            <a:pPr marL="457200" indent="-457200">
              <a:buFont typeface="Wingdings" panose="05000000000000000000" pitchFamily="2" charset="2"/>
              <a:buChar char="§"/>
            </a:pPr>
            <a:r>
              <a:rPr lang="en-US" sz="2800" dirty="0"/>
              <a:t>Manages storage and retrieval of user data, membership information, and login credentials while ensuring data integrity and security.</a:t>
            </a:r>
          </a:p>
          <a:p>
            <a:pPr marL="457200" indent="-457200">
              <a:buFont typeface="Wingdings" panose="05000000000000000000" pitchFamily="2" charset="2"/>
              <a:buChar char="§"/>
            </a:pPr>
            <a:r>
              <a:rPr lang="en-US" sz="2800" dirty="0"/>
              <a:t>Prevents redundancy and supports efficient data access for system operations.</a:t>
            </a:r>
          </a:p>
          <a:p>
            <a:pPr marL="457200" indent="-457200">
              <a:buFont typeface="Wingdings" panose="05000000000000000000" pitchFamily="2" charset="2"/>
              <a:buChar char="§"/>
            </a:pPr>
            <a:endParaRPr lang="en-IN" sz="2800" b="1" dirty="0"/>
          </a:p>
          <a:p>
            <a:r>
              <a:rPr lang="en-IN" sz="2800" b="1" dirty="0"/>
              <a:t>Module 4: Reporting &amp; Analytics</a:t>
            </a:r>
          </a:p>
          <a:p>
            <a:pPr marL="457200" indent="-457200">
              <a:buFont typeface="Wingdings" panose="05000000000000000000" pitchFamily="2" charset="2"/>
              <a:buChar char="§"/>
            </a:pPr>
            <a:r>
              <a:rPr lang="en-US" sz="2800" dirty="0"/>
              <a:t>This module generates detailed reports on registered members, including total users, active memberships, and user details.</a:t>
            </a:r>
          </a:p>
          <a:p>
            <a:pPr marL="457200" indent="-457200">
              <a:buFont typeface="Wingdings" panose="05000000000000000000" pitchFamily="2" charset="2"/>
              <a:buChar char="§"/>
            </a:pPr>
            <a:r>
              <a:rPr lang="en-US" sz="2800" dirty="0"/>
              <a:t>It allows administrators to view, filter, and manage member records for analysis. The reporting feature helps in monitoring system usage and supports effective membership management.</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a:t>Home page : </a:t>
            </a:r>
            <a:r>
              <a:rPr lang="en-US" sz="2800" dirty="0"/>
              <a:t>The Home Page is the main entry point of the Student Membership Subscription Portal. It provides a registration form for new users and a login option for existing users.</a:t>
            </a:r>
            <a:endParaRPr lang="en-US" sz="2800" b="1"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10645A6-0172-EF76-98D6-4197BD7FC15D}"/>
              </a:ext>
            </a:extLst>
          </p:cNvPr>
          <p:cNvPicPr>
            <a:picLocks noChangeAspect="1"/>
          </p:cNvPicPr>
          <p:nvPr/>
        </p:nvPicPr>
        <p:blipFill>
          <a:blip r:embed="rId3"/>
          <a:stretch>
            <a:fillRect/>
          </a:stretch>
        </p:blipFill>
        <p:spPr>
          <a:xfrm>
            <a:off x="2665734" y="3009899"/>
            <a:ext cx="14174466" cy="5948895"/>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986528"/>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a:t>Login page : </a:t>
            </a:r>
            <a:r>
              <a:rPr lang="en-US" sz="2800" dirty="0"/>
              <a:t>The Login Page allows registered users to enter their email and password to access their account. It verifies the credentials and redirects users to the dashboard upon successful authentication.</a:t>
            </a:r>
            <a:endParaRPr lang="en-US" sz="2800" b="1" dirty="0"/>
          </a:p>
          <a:p>
            <a:pPr marL="457200" indent="-457200">
              <a:buFont typeface="Wingdings" panose="05000000000000000000" pitchFamily="2" charset="2"/>
              <a:buChar char="§"/>
            </a:pPr>
            <a:endParaRPr lang="en-US" sz="2800" b="1"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89A80A90-8BD6-C799-B70E-43B591B5B255}"/>
              </a:ext>
            </a:extLst>
          </p:cNvPr>
          <p:cNvPicPr>
            <a:picLocks noChangeAspect="1"/>
          </p:cNvPicPr>
          <p:nvPr/>
        </p:nvPicPr>
        <p:blipFill>
          <a:blip r:embed="rId3"/>
          <a:stretch>
            <a:fillRect/>
          </a:stretch>
        </p:blipFill>
        <p:spPr>
          <a:xfrm>
            <a:off x="3258221" y="3265497"/>
            <a:ext cx="5506218" cy="5507766"/>
          </a:xfrm>
          <a:prstGeom prst="rect">
            <a:avLst/>
          </a:prstGeom>
        </p:spPr>
      </p:pic>
      <p:pic>
        <p:nvPicPr>
          <p:cNvPr id="6" name="Picture 5">
            <a:extLst>
              <a:ext uri="{FF2B5EF4-FFF2-40B4-BE49-F238E27FC236}">
                <a16:creationId xmlns:a16="http://schemas.microsoft.com/office/drawing/2014/main" id="{D980D882-A6BC-D909-F140-8F8F32D34FB5}"/>
              </a:ext>
            </a:extLst>
          </p:cNvPr>
          <p:cNvPicPr>
            <a:picLocks noChangeAspect="1"/>
          </p:cNvPicPr>
          <p:nvPr/>
        </p:nvPicPr>
        <p:blipFill>
          <a:blip r:embed="rId4"/>
          <a:stretch>
            <a:fillRect/>
          </a:stretch>
        </p:blipFill>
        <p:spPr>
          <a:xfrm>
            <a:off x="9673711" y="3780594"/>
            <a:ext cx="5534797" cy="486795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5693866"/>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a:t>Main Module : </a:t>
            </a:r>
            <a:r>
              <a:rPr lang="en-US" sz="2800" dirty="0"/>
              <a:t>The Dashboard provides a centralized interface for administrators to view and manage registered students and their subscription details. It displays membership status, plan validity, and allows actions such as extending subscriptions and logout.</a:t>
            </a:r>
            <a:endParaRPr lang="en-US" sz="2800" b="1"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AB08BFD-A9C6-A2FD-7491-31F639C194AE}"/>
              </a:ext>
            </a:extLst>
          </p:cNvPr>
          <p:cNvPicPr>
            <a:picLocks noChangeAspect="1"/>
          </p:cNvPicPr>
          <p:nvPr/>
        </p:nvPicPr>
        <p:blipFill>
          <a:blip r:embed="rId3"/>
          <a:stretch>
            <a:fillRect/>
          </a:stretch>
        </p:blipFill>
        <p:spPr>
          <a:xfrm>
            <a:off x="2645602" y="3514602"/>
            <a:ext cx="4496427" cy="4239217"/>
          </a:xfrm>
          <a:prstGeom prst="rect">
            <a:avLst/>
          </a:prstGeom>
        </p:spPr>
      </p:pic>
      <p:pic>
        <p:nvPicPr>
          <p:cNvPr id="39" name="Picture 38">
            <a:extLst>
              <a:ext uri="{FF2B5EF4-FFF2-40B4-BE49-F238E27FC236}">
                <a16:creationId xmlns:a16="http://schemas.microsoft.com/office/drawing/2014/main" id="{B61B92C2-4D39-A7E2-A92D-E74A8B51A87E}"/>
              </a:ext>
            </a:extLst>
          </p:cNvPr>
          <p:cNvPicPr>
            <a:picLocks noChangeAspect="1"/>
          </p:cNvPicPr>
          <p:nvPr/>
        </p:nvPicPr>
        <p:blipFill>
          <a:blip r:embed="rId4"/>
          <a:stretch>
            <a:fillRect/>
          </a:stretch>
        </p:blipFill>
        <p:spPr>
          <a:xfrm>
            <a:off x="7623778" y="3273061"/>
            <a:ext cx="3115110" cy="5099271"/>
          </a:xfrm>
          <a:prstGeom prst="rect">
            <a:avLst/>
          </a:prstGeom>
        </p:spPr>
      </p:pic>
      <p:pic>
        <p:nvPicPr>
          <p:cNvPr id="41" name="Picture 40">
            <a:extLst>
              <a:ext uri="{FF2B5EF4-FFF2-40B4-BE49-F238E27FC236}">
                <a16:creationId xmlns:a16="http://schemas.microsoft.com/office/drawing/2014/main" id="{F2EDFCAB-7B95-8726-AF01-F7BD58F431CB}"/>
              </a:ext>
            </a:extLst>
          </p:cNvPr>
          <p:cNvPicPr>
            <a:picLocks noChangeAspect="1"/>
          </p:cNvPicPr>
          <p:nvPr/>
        </p:nvPicPr>
        <p:blipFill>
          <a:blip r:embed="rId5"/>
          <a:stretch>
            <a:fillRect/>
          </a:stretch>
        </p:blipFill>
        <p:spPr>
          <a:xfrm>
            <a:off x="11464499" y="3272849"/>
            <a:ext cx="4982270" cy="515374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7848302"/>
          </a:xfrm>
          <a:prstGeom prst="rect">
            <a:avLst/>
          </a:prstGeom>
          <a:noFill/>
        </p:spPr>
        <p:txBody>
          <a:bodyPr wrap="square" rtlCol="0">
            <a:spAutoFit/>
          </a:bodyPr>
          <a:lstStyle/>
          <a:p>
            <a:pPr marL="457200" indent="-457200">
              <a:buFont typeface="Wingdings" panose="05000000000000000000" pitchFamily="2" charset="2"/>
              <a:buChar char="§"/>
            </a:pPr>
            <a:r>
              <a:rPr lang="en-US" sz="2800" b="1" dirty="0" err="1"/>
              <a:t>OutPage</a:t>
            </a:r>
            <a:r>
              <a:rPr lang="en-US" sz="2800" b="1" dirty="0"/>
              <a:t> :</a:t>
            </a:r>
            <a:r>
              <a:rPr lang="en-US" sz="2800" dirty="0"/>
              <a:t>The Output Page represents the Admin Panel of the Student Subscription Management system. It displays a structured list of registered students including their ID, Name, Email, Subscription Plan, Start Date, Expiry Date, and an option to extend the membership by 30 days. The page also provides a logout option and shows institutional details in the footer for authentication and ownership purposes.</a:t>
            </a:r>
          </a:p>
          <a:p>
            <a:pPr marL="457200" indent="-457200">
              <a:buFont typeface="Wingdings" panose="05000000000000000000" pitchFamily="2" charset="2"/>
              <a:buChar char="§"/>
            </a:pPr>
            <a:endParaRPr lang="en-US" sz="2800" b="1" dirty="0"/>
          </a:p>
          <a:p>
            <a:pPr marL="457200" indent="-457200">
              <a:buFont typeface="Wingdings" panose="05000000000000000000" pitchFamily="2" charset="2"/>
              <a:buChar char="§"/>
            </a:pPr>
            <a:endParaRPr lang="en-US" sz="2800" b="1"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E834B84A-3604-356C-DE5D-F7937F425813}"/>
              </a:ext>
            </a:extLst>
          </p:cNvPr>
          <p:cNvPicPr>
            <a:picLocks noChangeAspect="1"/>
          </p:cNvPicPr>
          <p:nvPr/>
        </p:nvPicPr>
        <p:blipFill>
          <a:blip r:embed="rId3"/>
          <a:stretch>
            <a:fillRect/>
          </a:stretch>
        </p:blipFill>
        <p:spPr>
          <a:xfrm>
            <a:off x="5852653" y="4614704"/>
            <a:ext cx="6582694" cy="412490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3A5471F-4CFE-2989-2405-A479D7329AD2}"/>
              </a:ext>
            </a:extLst>
          </p:cNvPr>
          <p:cNvSpPr txBox="1"/>
          <p:nvPr/>
        </p:nvSpPr>
        <p:spPr>
          <a:xfrm>
            <a:off x="2233354" y="1824385"/>
            <a:ext cx="14054666" cy="6555641"/>
          </a:xfrm>
          <a:prstGeom prst="rect">
            <a:avLst/>
          </a:prstGeom>
          <a:noFill/>
        </p:spPr>
        <p:txBody>
          <a:bodyPr wrap="square">
            <a:spAutoFit/>
          </a:bodyPr>
          <a:lstStyle/>
          <a:p>
            <a:pPr>
              <a:buNone/>
            </a:pPr>
            <a:r>
              <a:rPr lang="en-US" sz="2800" b="1" dirty="0"/>
              <a:t>ADVANTAGES:</a:t>
            </a:r>
          </a:p>
          <a:p>
            <a:pPr marL="457200" indent="-457200">
              <a:buFont typeface="Wingdings" panose="05000000000000000000" pitchFamily="2" charset="2"/>
              <a:buChar char="§"/>
            </a:pPr>
            <a:r>
              <a:rPr lang="en-US" sz="2800" dirty="0"/>
              <a:t>The Student Membership Subscription Portal reduces manual record maintenance and minimizes errors through automated form validation and secure authentication.</a:t>
            </a:r>
          </a:p>
          <a:p>
            <a:pPr marL="457200" indent="-457200">
              <a:buFont typeface="Wingdings" panose="05000000000000000000" pitchFamily="2" charset="2"/>
              <a:buChar char="§"/>
            </a:pPr>
            <a:r>
              <a:rPr lang="en-US" sz="2800" dirty="0"/>
              <a:t>It provides centralized data management, real-time updates of membership status, and secure storage of user information using a MySQL database.</a:t>
            </a:r>
          </a:p>
          <a:p>
            <a:pPr marL="457200" indent="-457200">
              <a:buFont typeface="Wingdings" panose="05000000000000000000" pitchFamily="2" charset="2"/>
              <a:buChar char="§"/>
            </a:pPr>
            <a:r>
              <a:rPr lang="en-US" sz="2800" dirty="0"/>
              <a:t>The system saves time for administrators, improves efficiency in managing subscriptions, and allows easy monitoring of registered members and membership validity.</a:t>
            </a:r>
          </a:p>
          <a:p>
            <a:pPr marL="457200" indent="-457200">
              <a:buFont typeface="Wingdings" panose="05000000000000000000" pitchFamily="2" charset="2"/>
              <a:buChar char="§"/>
            </a:pPr>
            <a:endParaRPr lang="en-US" sz="2800" dirty="0"/>
          </a:p>
          <a:p>
            <a:r>
              <a:rPr lang="en-US" sz="2800" b="1" dirty="0"/>
              <a:t>LIMITATIONS:</a:t>
            </a:r>
          </a:p>
          <a:p>
            <a:pPr marL="457200" indent="-457200">
              <a:buFont typeface="Wingdings" panose="05000000000000000000" pitchFamily="2" charset="2"/>
              <a:buChar char="§"/>
            </a:pPr>
            <a:r>
              <a:rPr lang="en-US" sz="2800" dirty="0"/>
              <a:t>The system depends on internet or local server availability (XAMPP) to function properly.</a:t>
            </a:r>
          </a:p>
          <a:p>
            <a:pPr marL="457200" indent="-457200">
              <a:buFont typeface="Wingdings" panose="05000000000000000000" pitchFamily="2" charset="2"/>
              <a:buChar char="§"/>
            </a:pPr>
            <a:r>
              <a:rPr lang="en-US" sz="2800" dirty="0"/>
              <a:t>It may require basic technical knowledge for system maintenance, updates, and database management.</a:t>
            </a:r>
          </a:p>
          <a:p>
            <a:pPr marL="457200" indent="-457200">
              <a:buFont typeface="Wingdings" panose="05000000000000000000" pitchFamily="2" charset="2"/>
              <a:buChar char="§"/>
            </a:pPr>
            <a:r>
              <a:rPr lang="en-US" sz="2800" dirty="0"/>
              <a:t>Additionally, without advanced security configurations such as HTTPS and role-based access control, the system could be vulnerable to unauthorized access if not properly secured.</a:t>
            </a:r>
          </a:p>
          <a:p>
            <a:pPr marL="457200" indent="-457200">
              <a:buFont typeface="Wingdings" panose="05000000000000000000" pitchFamily="2" charset="2"/>
              <a:buChar char="§"/>
            </a:pPr>
            <a:endParaRPr lang="en-US"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444</TotalTime>
  <Words>1589</Words>
  <Application>Microsoft Office PowerPoint</Application>
  <PresentationFormat>Custom</PresentationFormat>
  <Paragraphs>322</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vt:lpstr>
      <vt:lpstr>Arial</vt:lpstr>
      <vt:lpstr>Gotham Bold Italics</vt:lpstr>
      <vt:lpstr>Gotham</vt:lpstr>
      <vt:lpstr>Times New Roman</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Divya Reddy Machupalli</dc:creator>
  <cp:lastModifiedBy>BACHU VISHNU VARDHAN</cp:lastModifiedBy>
  <cp:revision>14</cp:revision>
  <dcterms:created xsi:type="dcterms:W3CDTF">2006-08-16T00:00:00Z</dcterms:created>
  <dcterms:modified xsi:type="dcterms:W3CDTF">2026-05-06T04:30:55Z</dcterms:modified>
  <dc:identifier>DAHCaYqJ9OU</dc:identifier>
</cp:coreProperties>
</file>