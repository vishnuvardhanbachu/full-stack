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73" r:id="rId16"/>
    <p:sldId id="269" r:id="rId17"/>
    <p:sldId id="270" r:id="rId1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83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11"/>
          <p:cNvSpPr/>
          <p:nvPr/>
        </p:nvSpPr>
        <p:spPr>
          <a:xfrm>
            <a:off x="11762088" y="-9632634"/>
            <a:ext cx="10994425" cy="10994425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Freeform 20"/>
          <p:cNvSpPr/>
          <p:nvPr/>
        </p:nvSpPr>
        <p:spPr>
          <a:xfrm>
            <a:off x="-9965724" y="-1383136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6" name="Picture 22" descr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8"/>
            <a:ext cx="4752248" cy="13606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7" name="TextBox 23"/>
          <p:cNvSpPr txBox="1"/>
          <p:nvPr/>
        </p:nvSpPr>
        <p:spPr>
          <a:xfrm>
            <a:off x="1405721" y="1608481"/>
            <a:ext cx="15834361" cy="15646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32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dirty="0"/>
              <a:t>Vel Tech Rangarajan Dr. Sagunthala R&amp;D Institute of Science and Technology</a:t>
            </a:r>
          </a:p>
          <a:p>
            <a:pPr algn="ctr">
              <a:defRPr sz="36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dirty="0"/>
              <a:t>School of Computing </a:t>
            </a:r>
          </a:p>
          <a:p>
            <a:pPr algn="ctr">
              <a:defRPr sz="32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dirty="0"/>
              <a:t>Department of Computer Science and Engineering</a:t>
            </a:r>
          </a:p>
        </p:txBody>
      </p:sp>
      <p:sp>
        <p:nvSpPr>
          <p:cNvPr id="98" name="TextBox 25"/>
          <p:cNvSpPr txBox="1"/>
          <p:nvPr/>
        </p:nvSpPr>
        <p:spPr>
          <a:xfrm>
            <a:off x="1738554" y="3272356"/>
            <a:ext cx="15168697" cy="497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rgbClr val="0033CC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1pPr>
          </a:lstStyle>
          <a:p>
            <a:r>
              <a:t>10211CS224 / FULL STACK APPLICATION DEVELOPMENT (JAVA)</a:t>
            </a:r>
          </a:p>
        </p:txBody>
      </p:sp>
      <p:sp>
        <p:nvSpPr>
          <p:cNvPr id="99" name="TextBox 26"/>
          <p:cNvSpPr txBox="1"/>
          <p:nvPr/>
        </p:nvSpPr>
        <p:spPr>
          <a:xfrm>
            <a:off x="3773476" y="3897939"/>
            <a:ext cx="11098850" cy="17532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dirty="0"/>
              <a:t>PROJECT REVIEW : MILESTONE PROJECT </a:t>
            </a:r>
          </a:p>
          <a:p>
            <a:pPr algn="ctr">
              <a:defRPr sz="36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dirty="0"/>
          </a:p>
          <a:p>
            <a:pPr algn="ctr">
              <a:defRPr sz="36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dirty="0"/>
              <a:t>Date: </a:t>
            </a:r>
            <a:r>
              <a:rPr lang="en-IN" dirty="0"/>
              <a:t>06</a:t>
            </a:r>
            <a:r>
              <a:rPr dirty="0"/>
              <a:t>-0</a:t>
            </a:r>
            <a:r>
              <a:rPr lang="en-IN" dirty="0"/>
              <a:t>5</a:t>
            </a:r>
            <a:r>
              <a:rPr dirty="0"/>
              <a:t>-2026</a:t>
            </a:r>
          </a:p>
        </p:txBody>
      </p:sp>
      <p:sp>
        <p:nvSpPr>
          <p:cNvPr id="100" name="TextBox 12"/>
          <p:cNvSpPr txBox="1"/>
          <p:nvPr/>
        </p:nvSpPr>
        <p:spPr>
          <a:xfrm>
            <a:off x="1547359" y="6057899"/>
            <a:ext cx="15692724" cy="107721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32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lang="en-IN" b="0" dirty="0"/>
              <a:t>Job Portal Management System </a:t>
            </a:r>
            <a:br>
              <a:rPr lang="en-IN" dirty="0"/>
            </a:br>
            <a:endParaRPr dirty="0"/>
          </a:p>
        </p:txBody>
      </p:sp>
      <p:sp>
        <p:nvSpPr>
          <p:cNvPr id="101" name="TextBox 13"/>
          <p:cNvSpPr txBox="1"/>
          <p:nvPr/>
        </p:nvSpPr>
        <p:spPr>
          <a:xfrm>
            <a:off x="939589" y="7800539"/>
            <a:ext cx="8976361" cy="139166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dirty="0"/>
              <a:t>Presented By:</a:t>
            </a:r>
          </a:p>
          <a:p>
            <a:pPr>
              <a:lnSpc>
                <a:spcPct val="150000"/>
              </a:lnSpc>
              <a:defRPr sz="30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lang="en-IN" dirty="0"/>
              <a:t>B.VISHNU VARDHAN</a:t>
            </a:r>
            <a:r>
              <a:rPr dirty="0"/>
              <a:t>– VTU2</a:t>
            </a:r>
            <a:r>
              <a:rPr lang="en-IN" dirty="0"/>
              <a:t>4685</a:t>
            </a:r>
            <a:r>
              <a:rPr dirty="0"/>
              <a:t> – 23UECS</a:t>
            </a:r>
            <a:r>
              <a:rPr lang="en-US" dirty="0"/>
              <a:t>1020</a:t>
            </a:r>
            <a:endParaRPr dirty="0"/>
          </a:p>
        </p:txBody>
      </p:sp>
      <p:sp>
        <p:nvSpPr>
          <p:cNvPr id="102" name="TextBox 14"/>
          <p:cNvSpPr txBox="1"/>
          <p:nvPr/>
        </p:nvSpPr>
        <p:spPr>
          <a:xfrm>
            <a:off x="10990755" y="7818586"/>
            <a:ext cx="6823163" cy="277665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dirty="0"/>
              <a:t>Courses Handling Faculty:</a:t>
            </a:r>
          </a:p>
          <a:p>
            <a:pPr>
              <a:lnSpc>
                <a:spcPct val="150000"/>
              </a:lnSpc>
              <a:defRPr sz="30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dirty="0"/>
              <a:t>Dr. </a:t>
            </a:r>
            <a:r>
              <a:rPr lang="en-US" dirty="0"/>
              <a:t>HAFIZUR RAHAMAN</a:t>
            </a:r>
          </a:p>
          <a:p>
            <a:pPr>
              <a:lnSpc>
                <a:spcPct val="150000"/>
              </a:lnSpc>
              <a:defRPr sz="30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r>
              <a:rPr lang="en-US" dirty="0"/>
              <a:t>Assistant professor</a:t>
            </a:r>
          </a:p>
          <a:p>
            <a:pPr>
              <a:lnSpc>
                <a:spcPct val="150000"/>
              </a:lnSpc>
              <a:defRPr sz="300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8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8" name="Group 9"/>
          <p:cNvGrpSpPr/>
          <p:nvPr/>
        </p:nvGrpSpPr>
        <p:grpSpPr>
          <a:xfrm>
            <a:off x="706081" y="1952202"/>
            <a:ext cx="992464" cy="992464"/>
            <a:chOff x="0" y="0"/>
            <a:chExt cx="992462" cy="992462"/>
          </a:xfrm>
        </p:grpSpPr>
        <p:sp>
          <p:nvSpPr>
            <p:cNvPr id="106" name="Freeform 1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TextBox 11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11" name="Group 12"/>
          <p:cNvGrpSpPr/>
          <p:nvPr/>
        </p:nvGrpSpPr>
        <p:grpSpPr>
          <a:xfrm>
            <a:off x="948235" y="4447339"/>
            <a:ext cx="508159" cy="543806"/>
            <a:chOff x="0" y="0"/>
            <a:chExt cx="508157" cy="543804"/>
          </a:xfrm>
        </p:grpSpPr>
        <p:sp>
          <p:nvSpPr>
            <p:cNvPr id="109" name="Freeform 1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TextBox 1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14" name="Group 15"/>
          <p:cNvGrpSpPr/>
          <p:nvPr/>
        </p:nvGrpSpPr>
        <p:grpSpPr>
          <a:xfrm>
            <a:off x="948235" y="3107362"/>
            <a:ext cx="508159" cy="543806"/>
            <a:chOff x="0" y="0"/>
            <a:chExt cx="508157" cy="543804"/>
          </a:xfrm>
        </p:grpSpPr>
        <p:sp>
          <p:nvSpPr>
            <p:cNvPr id="112" name="Freeform 1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TextBox 1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17" name="Group 18"/>
          <p:cNvGrpSpPr/>
          <p:nvPr/>
        </p:nvGrpSpPr>
        <p:grpSpPr>
          <a:xfrm>
            <a:off x="948235" y="5115752"/>
            <a:ext cx="508159" cy="543806"/>
            <a:chOff x="0" y="0"/>
            <a:chExt cx="508157" cy="543804"/>
          </a:xfrm>
        </p:grpSpPr>
        <p:sp>
          <p:nvSpPr>
            <p:cNvPr id="115" name="Freeform 1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" name="TextBox 2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20" name="Group 21"/>
          <p:cNvGrpSpPr/>
          <p:nvPr/>
        </p:nvGrpSpPr>
        <p:grpSpPr>
          <a:xfrm>
            <a:off x="948235" y="3776486"/>
            <a:ext cx="508159" cy="543806"/>
            <a:chOff x="0" y="0"/>
            <a:chExt cx="508157" cy="543804"/>
          </a:xfrm>
        </p:grpSpPr>
        <p:sp>
          <p:nvSpPr>
            <p:cNvPr id="118" name="Freeform 2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TextBox 2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23" name="Group 24"/>
          <p:cNvGrpSpPr/>
          <p:nvPr/>
        </p:nvGrpSpPr>
        <p:grpSpPr>
          <a:xfrm>
            <a:off x="948235" y="6455729"/>
            <a:ext cx="508159" cy="543806"/>
            <a:chOff x="0" y="0"/>
            <a:chExt cx="508157" cy="543804"/>
          </a:xfrm>
        </p:grpSpPr>
        <p:sp>
          <p:nvSpPr>
            <p:cNvPr id="121" name="Freeform 2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TextBox 2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126" name="Group 27"/>
          <p:cNvGrpSpPr/>
          <p:nvPr/>
        </p:nvGrpSpPr>
        <p:grpSpPr>
          <a:xfrm>
            <a:off x="948235" y="5784877"/>
            <a:ext cx="508159" cy="543806"/>
            <a:chOff x="0" y="0"/>
            <a:chExt cx="508157" cy="543804"/>
          </a:xfrm>
        </p:grpSpPr>
        <p:sp>
          <p:nvSpPr>
            <p:cNvPr id="124" name="Freeform 2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TextBox 2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29" name="Group 36"/>
          <p:cNvGrpSpPr/>
          <p:nvPr/>
        </p:nvGrpSpPr>
        <p:grpSpPr>
          <a:xfrm>
            <a:off x="948235" y="7123361"/>
            <a:ext cx="508159" cy="543806"/>
            <a:chOff x="0" y="0"/>
            <a:chExt cx="508157" cy="543804"/>
          </a:xfrm>
        </p:grpSpPr>
        <p:sp>
          <p:nvSpPr>
            <p:cNvPr id="127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132" name="Group 39"/>
          <p:cNvGrpSpPr/>
          <p:nvPr/>
        </p:nvGrpSpPr>
        <p:grpSpPr>
          <a:xfrm>
            <a:off x="948235" y="7790991"/>
            <a:ext cx="508159" cy="543806"/>
            <a:chOff x="0" y="0"/>
            <a:chExt cx="508157" cy="543804"/>
          </a:xfrm>
        </p:grpSpPr>
        <p:sp>
          <p:nvSpPr>
            <p:cNvPr id="130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133" name="TextBox 1"/>
          <p:cNvSpPr txBox="1"/>
          <p:nvPr/>
        </p:nvSpPr>
        <p:spPr>
          <a:xfrm>
            <a:off x="198119" y="342899"/>
            <a:ext cx="180441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INTRODUCTION</a:t>
            </a:r>
          </a:p>
        </p:txBody>
      </p:sp>
      <p:sp>
        <p:nvSpPr>
          <p:cNvPr id="134" name="TextBox 2"/>
          <p:cNvSpPr txBox="1"/>
          <p:nvPr/>
        </p:nvSpPr>
        <p:spPr>
          <a:xfrm>
            <a:off x="2255520" y="2072004"/>
            <a:ext cx="14991080" cy="871007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A Job Portal Management System is a web-based application designed to connect job seekers and employers.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It provides a centralized platform for managing job postings and applications efficiently.</a:t>
            </a:r>
            <a:br>
              <a:rPr lang="en-US" dirty="0"/>
            </a:br>
            <a:r>
              <a:rPr lang="en-US" dirty="0"/>
              <a:t>Users can create profiles, upload resumes, and search for jobs based on various criteria.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Employers can post job vacancies and review applications from candidates.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The system simplifies the recruitment process by automating manual tasks.</a:t>
            </a:r>
            <a:br>
              <a:rPr lang="en-US" dirty="0"/>
            </a:br>
            <a:r>
              <a:rPr lang="en-US" dirty="0"/>
              <a:t>It helps in reducing time and effort involved in hiring and job searching.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The platform supports filtering jobs by location, skills, and experience.</a:t>
            </a:r>
            <a:br>
              <a:rPr lang="en-US" dirty="0"/>
            </a:br>
            <a:r>
              <a:rPr lang="en-US" dirty="0"/>
              <a:t>It also allows tracking of application status in real time.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With secure login features, user data is protected and managed effectively.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Overall, the system enhances communication between employers and job seekers.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39" name="Group 11"/>
          <p:cNvGrpSpPr/>
          <p:nvPr/>
        </p:nvGrpSpPr>
        <p:grpSpPr>
          <a:xfrm>
            <a:off x="709356" y="2648112"/>
            <a:ext cx="992464" cy="992463"/>
            <a:chOff x="0" y="0"/>
            <a:chExt cx="992462" cy="992462"/>
          </a:xfrm>
        </p:grpSpPr>
        <p:sp>
          <p:nvSpPr>
            <p:cNvPr id="137" name="Freeform 12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8" name="TextBox 13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42" name="Group 14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40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1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45" name="Group 17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43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4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48" name="Group 20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46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7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51" name="Group 23"/>
          <p:cNvGrpSpPr/>
          <p:nvPr/>
        </p:nvGrpSpPr>
        <p:grpSpPr>
          <a:xfrm>
            <a:off x="951508" y="3762533"/>
            <a:ext cx="508159" cy="543806"/>
            <a:chOff x="0" y="0"/>
            <a:chExt cx="508157" cy="543804"/>
          </a:xfrm>
        </p:grpSpPr>
        <p:sp>
          <p:nvSpPr>
            <p:cNvPr id="149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0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54" name="Group 26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52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3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157" name="Group 29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55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6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60" name="Group 36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58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9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163" name="Group 39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61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2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164" name="TextBox 46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165" name="TextBox 47"/>
          <p:cNvSpPr txBox="1"/>
          <p:nvPr/>
        </p:nvSpPr>
        <p:spPr>
          <a:xfrm>
            <a:off x="2263515" y="1843790"/>
            <a:ext cx="16024485" cy="1000273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job recruitment systems, most processes are manual and inefficient.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often struggle to find relevant job opportunities in one place.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difficulties in managing a large number of applications.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store and track job-related data.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resumes leads to delays and errors.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employers and candidates is often slow and unclear.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Applicants do not receive timely updates about their application status.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for jobs based on skills, location, or experience is limited.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 spend more time sorting and filtering candidates manually.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automation and real-time updates.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becomes complex as the number of users increases.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risk of data loss and duplication in manual systems.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of user information is often not properly maintained.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user-friendly interface reduces system usability.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efficient, automated Job Portal Management System.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7"/>
          <p:cNvGrpSpPr/>
          <p:nvPr/>
        </p:nvGrpSpPr>
        <p:grpSpPr>
          <a:xfrm>
            <a:off x="709356" y="3315742"/>
            <a:ext cx="992464" cy="992464"/>
            <a:chOff x="0" y="0"/>
            <a:chExt cx="992462" cy="992462"/>
          </a:xfrm>
        </p:grpSpPr>
        <p:sp>
          <p:nvSpPr>
            <p:cNvPr id="16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8" name="TextBox 9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72" name="Group 10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7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75" name="Group 13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7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78" name="Group 16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7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81" name="Group 19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17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84" name="Group 22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8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187" name="Group 25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8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90" name="Group 41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88" name="Freeform 4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9" name="TextBox 4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193" name="Group 44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91" name="Freeform 4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2" name="TextBox 4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194" name="TextBox 49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OBJECTIVE(S)</a:t>
            </a:r>
          </a:p>
        </p:txBody>
      </p:sp>
      <p:sp>
        <p:nvSpPr>
          <p:cNvPr id="19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TextBox 51"/>
          <p:cNvSpPr txBox="1"/>
          <p:nvPr/>
        </p:nvSpPr>
        <p:spPr>
          <a:xfrm>
            <a:off x="2255520" y="2185035"/>
            <a:ext cx="14991080" cy="70788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4000"/>
            </a:pPr>
            <a:endParaRPr dirty="0"/>
          </a:p>
        </p:txBody>
      </p:sp>
      <p:sp>
        <p:nvSpPr>
          <p:cNvPr id="5" name="TextBox 51"/>
          <p:cNvSpPr txBox="1"/>
          <p:nvPr/>
        </p:nvSpPr>
        <p:spPr>
          <a:xfrm>
            <a:off x="2407920" y="2337435"/>
            <a:ext cx="14991080" cy="70788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4000"/>
            </a:pPr>
            <a:endParaRPr dirty="0"/>
          </a:p>
        </p:txBody>
      </p:sp>
      <p:sp>
        <p:nvSpPr>
          <p:cNvPr id="6" name="TextBox 51"/>
          <p:cNvSpPr txBox="1"/>
          <p:nvPr/>
        </p:nvSpPr>
        <p:spPr>
          <a:xfrm>
            <a:off x="2560320" y="2489835"/>
            <a:ext cx="14991080" cy="70788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4000"/>
            </a:pPr>
            <a:endParaRPr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55520" y="1513370"/>
            <a:ext cx="13303518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Objectives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your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platform that connects job seekers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user registration and secure login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job seekers to create profiles and upload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search and filter jobs based on skills, location, and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employers to post, update, and delete job listings.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 way for candidates to apply for jobs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employers to view and manage job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application tracking for job seekers.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handling of user data with proper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and improve efficiency in the recruitment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3"/>
          <p:cNvGrpSpPr/>
          <p:nvPr/>
        </p:nvGrpSpPr>
        <p:grpSpPr>
          <a:xfrm>
            <a:off x="709356" y="3983373"/>
            <a:ext cx="992464" cy="992464"/>
            <a:chOff x="0" y="0"/>
            <a:chExt cx="992462" cy="992462"/>
          </a:xfrm>
        </p:grpSpPr>
        <p:sp>
          <p:nvSpPr>
            <p:cNvPr id="198" name="Freeform 14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9" name="TextBox 15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03" name="Group 16"/>
          <p:cNvGrpSpPr/>
          <p:nvPr/>
        </p:nvGrpSpPr>
        <p:grpSpPr>
          <a:xfrm>
            <a:off x="951508" y="3315742"/>
            <a:ext cx="508159" cy="543806"/>
            <a:chOff x="0" y="0"/>
            <a:chExt cx="508157" cy="543804"/>
          </a:xfrm>
        </p:grpSpPr>
        <p:sp>
          <p:nvSpPr>
            <p:cNvPr id="201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2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06" name="Group 19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204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5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09" name="Group 22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207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8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12" name="Group 25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210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1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15" name="Group 28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213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4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18" name="Group 31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216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21" name="Group 34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219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224" name="Group 37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222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22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TextBox 45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PROPOSED SYSTEM</a:t>
            </a:r>
          </a:p>
        </p:txBody>
      </p:sp>
      <p:sp>
        <p:nvSpPr>
          <p:cNvPr id="227" name="TextBox 47"/>
          <p:cNvSpPr txBox="1"/>
          <p:nvPr/>
        </p:nvSpPr>
        <p:spPr>
          <a:xfrm>
            <a:off x="2255519" y="1638300"/>
            <a:ext cx="14990886" cy="440120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94864" y="1982863"/>
            <a:ext cx="18037123" cy="683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Job Portal Management System designed to simplify the recruitment process.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where job seekers and employers can interact efficiently.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register, create profiles, and upload resumes through a user-friendly interface.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can search and apply for jobs based on their skills, location, and experience.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openings, update details, and manage applications easily.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all data in a centralized database for quick access and management.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real-time tracking of job applications and their status.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includes secure login and role-based access for users and employers.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reduces manual effort and minimizes errors in recruitment.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between candidates and employers.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enhances efficiency, accuracy, and user experience in job management.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5"/>
          <p:cNvGrpSpPr/>
          <p:nvPr/>
        </p:nvGrpSpPr>
        <p:grpSpPr>
          <a:xfrm>
            <a:off x="709356" y="4655765"/>
            <a:ext cx="992464" cy="992464"/>
            <a:chOff x="0" y="0"/>
            <a:chExt cx="992462" cy="992462"/>
          </a:xfrm>
        </p:grpSpPr>
        <p:sp>
          <p:nvSpPr>
            <p:cNvPr id="229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TextBox 7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34" name="Group 8"/>
          <p:cNvGrpSpPr/>
          <p:nvPr/>
        </p:nvGrpSpPr>
        <p:grpSpPr>
          <a:xfrm>
            <a:off x="951508" y="3320505"/>
            <a:ext cx="508159" cy="543806"/>
            <a:chOff x="0" y="0"/>
            <a:chExt cx="508157" cy="543804"/>
          </a:xfrm>
        </p:grpSpPr>
        <p:sp>
          <p:nvSpPr>
            <p:cNvPr id="232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37" name="Group 11"/>
          <p:cNvGrpSpPr/>
          <p:nvPr/>
        </p:nvGrpSpPr>
        <p:grpSpPr>
          <a:xfrm>
            <a:off x="951508" y="1987111"/>
            <a:ext cx="508159" cy="543806"/>
            <a:chOff x="0" y="0"/>
            <a:chExt cx="508157" cy="543804"/>
          </a:xfrm>
        </p:grpSpPr>
        <p:sp>
          <p:nvSpPr>
            <p:cNvPr id="235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40" name="Group 14"/>
          <p:cNvGrpSpPr/>
          <p:nvPr/>
        </p:nvGrpSpPr>
        <p:grpSpPr>
          <a:xfrm>
            <a:off x="951508" y="3988134"/>
            <a:ext cx="508159" cy="543806"/>
            <a:chOff x="0" y="0"/>
            <a:chExt cx="508157" cy="543804"/>
          </a:xfrm>
        </p:grpSpPr>
        <p:sp>
          <p:nvSpPr>
            <p:cNvPr id="238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43" name="Group 17"/>
          <p:cNvGrpSpPr/>
          <p:nvPr/>
        </p:nvGrpSpPr>
        <p:grpSpPr>
          <a:xfrm>
            <a:off x="951508" y="2652873"/>
            <a:ext cx="508159" cy="543806"/>
            <a:chOff x="0" y="0"/>
            <a:chExt cx="508157" cy="543804"/>
          </a:xfrm>
        </p:grpSpPr>
        <p:sp>
          <p:nvSpPr>
            <p:cNvPr id="241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46" name="Group 20"/>
          <p:cNvGrpSpPr/>
          <p:nvPr/>
        </p:nvGrpSpPr>
        <p:grpSpPr>
          <a:xfrm>
            <a:off x="951508" y="6430347"/>
            <a:ext cx="508159" cy="543806"/>
            <a:chOff x="0" y="0"/>
            <a:chExt cx="508157" cy="543804"/>
          </a:xfrm>
        </p:grpSpPr>
        <p:sp>
          <p:nvSpPr>
            <p:cNvPr id="244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49" name="Group 23"/>
          <p:cNvGrpSpPr/>
          <p:nvPr/>
        </p:nvGrpSpPr>
        <p:grpSpPr>
          <a:xfrm>
            <a:off x="951508" y="5764584"/>
            <a:ext cx="508159" cy="543806"/>
            <a:chOff x="0" y="0"/>
            <a:chExt cx="508157" cy="543804"/>
          </a:xfrm>
        </p:grpSpPr>
        <p:sp>
          <p:nvSpPr>
            <p:cNvPr id="247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52" name="Group 26"/>
          <p:cNvGrpSpPr/>
          <p:nvPr/>
        </p:nvGrpSpPr>
        <p:grpSpPr>
          <a:xfrm>
            <a:off x="951508" y="7088453"/>
            <a:ext cx="508159" cy="543806"/>
            <a:chOff x="0" y="0"/>
            <a:chExt cx="508157" cy="543804"/>
          </a:xfrm>
        </p:grpSpPr>
        <p:sp>
          <p:nvSpPr>
            <p:cNvPr id="250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1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255" name="Group 29"/>
          <p:cNvGrpSpPr/>
          <p:nvPr/>
        </p:nvGrpSpPr>
        <p:grpSpPr>
          <a:xfrm>
            <a:off x="951508" y="7756083"/>
            <a:ext cx="508159" cy="543806"/>
            <a:chOff x="0" y="0"/>
            <a:chExt cx="508157" cy="543804"/>
          </a:xfrm>
        </p:grpSpPr>
        <p:sp>
          <p:nvSpPr>
            <p:cNvPr id="253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4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256" name="Freeform 38"/>
          <p:cNvSpPr/>
          <p:nvPr/>
        </p:nvSpPr>
        <p:spPr>
          <a:xfrm>
            <a:off x="11762088" y="-9632634"/>
            <a:ext cx="10994425" cy="10994425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7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TextBox 41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dirty="0"/>
              <a:t>PROPOSED SYSTEM ARCHITECTURE</a:t>
            </a:r>
          </a:p>
        </p:txBody>
      </p:sp>
      <p:sp>
        <p:nvSpPr>
          <p:cNvPr id="259" name="TextBox 42"/>
          <p:cNvSpPr txBox="1"/>
          <p:nvPr/>
        </p:nvSpPr>
        <p:spPr>
          <a:xfrm>
            <a:off x="2255520" y="1638300"/>
            <a:ext cx="8823961" cy="40011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514350" indent="-514350">
              <a:buSzPct val="100000"/>
              <a:buAutoNum type="arabicPeriod"/>
              <a:defRPr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b="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01821" y="-1721833"/>
            <a:ext cx="10043410" cy="1117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Proposed System Architecture (10–12 lines)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your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Job Portal Management System follows a multi-layered architecture.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begins with the user accessing the system through a web browser.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developed using HTML, CSS, JavaScript,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an interactive interface.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are sent to the backend through HTTP requests.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layer in Spring Boot handles incoming requests and directs them to the appropriate services.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Service layer processes the business logic such as job posting and application handling.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layer interacts with the database using Spring Data JPA.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(MySQL) stores all data including users, jobs, and applications.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is used to manage authentication and authorization.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flows between layers in a structured and secure manner.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efficient communication between frontend and backend.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provides scalability, maintainability, and high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7062" y="2416945"/>
            <a:ext cx="5801194" cy="61317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roup 14"/>
          <p:cNvGrpSpPr/>
          <p:nvPr/>
        </p:nvGrpSpPr>
        <p:grpSpPr>
          <a:xfrm>
            <a:off x="735587" y="5318633"/>
            <a:ext cx="992464" cy="992464"/>
            <a:chOff x="0" y="0"/>
            <a:chExt cx="992462" cy="992462"/>
          </a:xfrm>
        </p:grpSpPr>
        <p:sp>
          <p:nvSpPr>
            <p:cNvPr id="262" name="Freeform 15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3" name="TextBox 16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67" name="Group 17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65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6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70" name="Group 20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268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9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73" name="Group 23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271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2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76" name="Group 26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274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5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79" name="Group 29"/>
          <p:cNvGrpSpPr/>
          <p:nvPr/>
        </p:nvGrpSpPr>
        <p:grpSpPr>
          <a:xfrm>
            <a:off x="977740" y="6425584"/>
            <a:ext cx="508159" cy="543806"/>
            <a:chOff x="0" y="0"/>
            <a:chExt cx="508157" cy="543804"/>
          </a:xfrm>
        </p:grpSpPr>
        <p:sp>
          <p:nvSpPr>
            <p:cNvPr id="277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8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82" name="Group 32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280" name="Freeform 3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1" name="TextBox 3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85" name="Group 37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283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4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288" name="Group 40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286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289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TextBox 46"/>
          <p:cNvSpPr txBox="1"/>
          <p:nvPr/>
        </p:nvSpPr>
        <p:spPr>
          <a:xfrm>
            <a:off x="236219" y="315937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WORKFLOW</a:t>
            </a:r>
          </a:p>
        </p:txBody>
      </p:sp>
      <p:sp>
        <p:nvSpPr>
          <p:cNvPr id="291" name="TextBox 2"/>
          <p:cNvSpPr txBox="1"/>
          <p:nvPr/>
        </p:nvSpPr>
        <p:spPr>
          <a:xfrm>
            <a:off x="2407919" y="1866899"/>
            <a:ext cx="8442962" cy="618630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just">
              <a:defRPr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Ø"/>
            </a:pPr>
            <a:r>
              <a:rPr dirty="0"/>
              <a:t>The Data Flow Diagram shows how data moves in the Real-Time Event Synchronization Engine.</a:t>
            </a:r>
            <a:endParaRPr lang="en-IN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dirty="0"/>
              <a:t> The user performs an action, which is sent to the system through a WebSocket connection. </a:t>
            </a:r>
            <a:endParaRPr lang="en-IN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dirty="0"/>
              <a:t>The server processes the event and broadcasts it to all connected clients. The updated data is displayed instantly on all user interfaces. This ensures real-time synchronization without page refresh.</a:t>
            </a:r>
          </a:p>
        </p:txBody>
      </p:sp>
      <p:pic>
        <p:nvPicPr>
          <p:cNvPr id="29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1718110"/>
            <a:ext cx="6553201" cy="738779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roup 19"/>
          <p:cNvGrpSpPr/>
          <p:nvPr/>
        </p:nvGrpSpPr>
        <p:grpSpPr>
          <a:xfrm>
            <a:off x="735587" y="5976927"/>
            <a:ext cx="992464" cy="992464"/>
            <a:chOff x="0" y="0"/>
            <a:chExt cx="992462" cy="992462"/>
          </a:xfrm>
        </p:grpSpPr>
        <p:sp>
          <p:nvSpPr>
            <p:cNvPr id="294" name="Freeform 2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5" name="TextBox 21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99" name="Group 22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97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8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02" name="Group 25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00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1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05" name="Group 28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03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4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08" name="Group 31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06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7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311" name="Group 34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09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0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314" name="Group 37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12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3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317" name="Group 40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315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6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320" name="Group 43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18" name="Freeform 4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9" name="TextBox 4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21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2" name="TextBox 46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TECHNOLOGIES USED</a:t>
            </a:r>
          </a:p>
        </p:txBody>
      </p:sp>
      <p:sp>
        <p:nvSpPr>
          <p:cNvPr id="323" name="TextBox 47"/>
          <p:cNvSpPr txBox="1"/>
          <p:nvPr/>
        </p:nvSpPr>
        <p:spPr>
          <a:xfrm>
            <a:off x="2184559" y="1352651"/>
            <a:ext cx="15125701" cy="1295739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– Used for structuring web pages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– Used for styling and layout design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– Used for interactivity and dynamic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for integrating frontend with backend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– Main framework for building the application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 – Handles request routing and application flow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– Manages database operations using ORM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Stores user, job, and application data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– Provides authentication and role-based authorization 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password encryption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 / VS Code – Code development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– Dependency management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(Chrome/Edge) – Application testing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Arial" panose="020B0604020202020204"/>
              <a:buChar char="•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25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6" name="TextBox 9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330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28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9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33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31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36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34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39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37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342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40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1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345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43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4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348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46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7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351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49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52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4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MODULE DESCRIPTION</a:t>
            </a:r>
          </a:p>
        </p:txBody>
      </p:sp>
      <p:sp>
        <p:nvSpPr>
          <p:cNvPr id="355" name="TextBox 43"/>
          <p:cNvSpPr txBox="1"/>
          <p:nvPr/>
        </p:nvSpPr>
        <p:spPr>
          <a:xfrm>
            <a:off x="2075859" y="1456852"/>
            <a:ext cx="15383511" cy="1092606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800" b="1"/>
            </a:pPr>
            <a:endParaRPr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user registration and login functionality.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job seekers and employers to create accounts and maintain their profiles.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update personal details such as name, email, and password.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role-based access are also managed in this module.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employers to post new job vacancies with details like title, skills, salary, and location.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edit or delete job postings as needed.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are displayed to users in an organized manner.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proper management of all job-related data.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Job Search &amp; Filter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enables job seekers to search for jobs based on criteria such as skills, location, and experience.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filtering options to quickly find relevant job opportunities.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user experience by displaying accurate and sorted results.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to apply for jobs online.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application details such as user, job, and application status.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view all applicants for their posted jobs.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shortlist or reject candidates based on requirements.</a:t>
            </a: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25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6" name="TextBox 9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330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28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9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33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31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36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34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39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37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342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40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1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345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43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4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348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46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7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351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49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52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4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MODULE DESCRIPTION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523490" y="2166620"/>
            <a:ext cx="12560935" cy="4798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I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IIMPLEMENATION MODULE:</a:t>
            </a:r>
            <a:br>
              <a:rPr kumimoji="0" lang="en-I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</a:br>
            <a:br>
              <a:rPr kumimoji="0" lang="en-I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</a:br>
            <a:r>
              <a:rPr kumimoji="0" lang="en-I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EMAIL VERIFICATION </a:t>
            </a:r>
            <a:r>
              <a:rPr kumimoji="0" lang="en-I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The system implements Two-Factor Authentication (2FA) to provide an additional layer of security during user login. After entering the correct password, a unique 6-digit One-Time Password (OTP) is generated and sent to the user’s registered email address. The user must enter this OTP within a limited time period to verify their identity. This ensures that even if the password is compromised, unauthorized access is prevented. The OTP is valid for a short duration and can be used only once, enhancing security further. The system also includes features like auto-fill, resend OTP, and a countdown timer for better user experience. Overall, this approach significantly reduces the risk of hacking and improves account protection.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IN" alt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5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8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362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6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65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6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68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6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71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6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374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7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377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7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380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78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9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383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81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84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6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387" name="TextBox 2"/>
          <p:cNvSpPr txBox="1"/>
          <p:nvPr/>
        </p:nvSpPr>
        <p:spPr>
          <a:xfrm>
            <a:off x="2560319" y="1943099"/>
            <a:ext cx="14990886" cy="181588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800" b="1"/>
            </a:pPr>
            <a:r>
              <a:rPr dirty="0"/>
              <a:t>Home Page</a:t>
            </a:r>
          </a:p>
          <a:p>
            <a:pPr marL="457200" indent="-457200">
              <a:buSzPct val="100000"/>
              <a:buFont typeface="Arial" panose="020B0604020202020204"/>
              <a:buChar char="•"/>
              <a:defRPr sz="2800"/>
            </a:pPr>
            <a:r>
              <a:rPr dirty="0"/>
              <a:t>The Home Page introduces </a:t>
            </a:r>
            <a:r>
              <a:rPr lang="en-IN" dirty="0"/>
              <a:t>job portal </a:t>
            </a:r>
            <a:r>
              <a:rPr dirty="0"/>
              <a:t> platform and provides basic information about the </a:t>
            </a:r>
            <a:r>
              <a:rPr lang="en-IN" dirty="0"/>
              <a:t>jobs</a:t>
            </a:r>
            <a:endParaRPr dirty="0"/>
          </a:p>
          <a:p>
            <a:pPr marL="457200" indent="-457200">
              <a:buSzPct val="100000"/>
              <a:buFont typeface="Arial" panose="020B0604020202020204"/>
              <a:buChar char="•"/>
              <a:defRPr sz="2800"/>
            </a:pPr>
            <a:r>
              <a:rPr dirty="0"/>
              <a:t>It includes a “Register Now” button that redirects users to the registration page to </a:t>
            </a:r>
            <a:r>
              <a:rPr lang="en-IN" dirty="0"/>
              <a:t>get information about jobs.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19" y="4099109"/>
            <a:ext cx="15147851" cy="578786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90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8(A)</a:t>
              </a:r>
            </a:p>
          </p:txBody>
        </p:sp>
      </p:grpSp>
      <p:grpSp>
        <p:nvGrpSpPr>
          <p:cNvPr id="395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93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4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98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96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7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1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99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0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04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02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3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07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05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410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08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13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11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416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14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417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9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420" name="TextBox 3"/>
          <p:cNvSpPr txBox="1"/>
          <p:nvPr/>
        </p:nvSpPr>
        <p:spPr>
          <a:xfrm>
            <a:off x="1807858" y="1376035"/>
            <a:ext cx="16434422" cy="138499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8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Login / Registration Page</a:t>
            </a:r>
          </a:p>
          <a:p>
            <a:pPr marL="457200" indent="-457200">
              <a:buSzPct val="100000"/>
              <a:buFont typeface="Arial" panose="020B0604020202020204"/>
              <a:buChar char="•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The Registration Page allows users to enter their name and email </a:t>
            </a:r>
            <a:r>
              <a:rPr lang="en-IN" dirty="0"/>
              <a:t>and their role.</a:t>
            </a:r>
            <a:endParaRPr dirty="0"/>
          </a:p>
          <a:p>
            <a:pPr marL="457200" indent="-457200">
              <a:buSzPct val="100000"/>
              <a:buFont typeface="Arial" panose="020B0604020202020204"/>
              <a:buChar char="•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User details are validated</a:t>
            </a:r>
            <a:r>
              <a:rPr lang="en-IN" dirty="0"/>
              <a:t> and then </a:t>
            </a:r>
            <a:r>
              <a:rPr lang="en-IN" dirty="0" err="1"/>
              <a:t>forwaded</a:t>
            </a:r>
            <a:r>
              <a:rPr lang="en-IN" dirty="0"/>
              <a:t> to portal page.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836" y="2871895"/>
            <a:ext cx="7250658" cy="69925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23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8(B)</a:t>
              </a:r>
            </a:p>
          </p:txBody>
        </p:sp>
      </p:grpSp>
      <p:grpSp>
        <p:nvGrpSpPr>
          <p:cNvPr id="428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26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31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29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0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34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32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3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37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35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6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40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38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9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443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41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2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46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44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449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47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450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2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453" name="TextBox 2"/>
          <p:cNvSpPr txBox="1"/>
          <p:nvPr/>
        </p:nvSpPr>
        <p:spPr>
          <a:xfrm>
            <a:off x="2133599" y="1714499"/>
            <a:ext cx="14990886" cy="181588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800" b="1"/>
            </a:pPr>
            <a:r>
              <a:rPr lang="en-IN" dirty="0"/>
              <a:t>LOGIN PAGE</a:t>
            </a:r>
            <a:endParaRPr dirty="0"/>
          </a:p>
          <a:p>
            <a:pPr marL="457200" indent="-457200">
              <a:buSzPct val="100000"/>
              <a:buFont typeface="Arial" panose="020B0604020202020204"/>
              <a:buChar char="•"/>
              <a:defRPr sz="2800"/>
            </a:pPr>
            <a:r>
              <a:rPr dirty="0"/>
              <a:t>This module displays the </a:t>
            </a:r>
            <a:r>
              <a:rPr lang="en-IN" dirty="0"/>
              <a:t>login details along with “if u don’t have account we need to create new </a:t>
            </a:r>
            <a:r>
              <a:rPr lang="en-IN" dirty="0" err="1"/>
              <a:t>account”details</a:t>
            </a:r>
            <a:r>
              <a:rPr lang="en-IN" dirty="0"/>
              <a:t>.</a:t>
            </a:r>
            <a:endParaRPr dirty="0"/>
          </a:p>
          <a:p>
            <a:pPr marL="457200" indent="-457200">
              <a:buSzPct val="100000"/>
              <a:buFont typeface="Arial" panose="020B0604020202020204"/>
              <a:buChar char="•"/>
              <a:defRPr sz="2800"/>
            </a:pPr>
            <a:r>
              <a:rPr dirty="0"/>
              <a:t>Users can </a:t>
            </a:r>
            <a:r>
              <a:rPr lang="en-IN" dirty="0"/>
              <a:t>enter into main portal.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156" y="3518180"/>
            <a:ext cx="5518802" cy="65073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5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8(C)</a:t>
              </a:r>
            </a:p>
          </p:txBody>
        </p:sp>
      </p:grpSp>
      <p:grpSp>
        <p:nvGrpSpPr>
          <p:cNvPr id="462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6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65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6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68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6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71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6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74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7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477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7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80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78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483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81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2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484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6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487" name="TextBox 4"/>
          <p:cNvSpPr txBox="1"/>
          <p:nvPr/>
        </p:nvSpPr>
        <p:spPr>
          <a:xfrm>
            <a:off x="1492687" y="1456903"/>
            <a:ext cx="16520992" cy="181588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800" b="1"/>
            </a:pPr>
            <a:r>
              <a:rPr dirty="0"/>
              <a:t>Output Page (Live Dashboard)</a:t>
            </a:r>
          </a:p>
          <a:p>
            <a:pPr>
              <a:buSzPct val="100000"/>
              <a:buFont typeface="Arial" panose="020B0604020202020204"/>
              <a:buChar char="•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The Output Page displays</a:t>
            </a:r>
            <a:r>
              <a:rPr lang="en-IN" dirty="0"/>
              <a:t> whether we have received any emails about job offers.</a:t>
            </a:r>
            <a:endParaRPr dirty="0"/>
          </a:p>
          <a:p>
            <a:pPr>
              <a:buSzPct val="100000"/>
              <a:buFont typeface="Arial" panose="020B0604020202020204"/>
              <a:buChar char="•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dirty="0"/>
              <a:t>If we have any offer letter ,we can also try to get a new job</a:t>
            </a:r>
          </a:p>
          <a:p>
            <a:pPr>
              <a:buSzPct val="100000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646" y="3191919"/>
            <a:ext cx="15345073" cy="56779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5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8(C)</a:t>
              </a:r>
            </a:p>
          </p:txBody>
        </p:sp>
      </p:grpSp>
      <p:grpSp>
        <p:nvGrpSpPr>
          <p:cNvPr id="462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6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65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6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68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6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71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6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74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7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477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7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80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78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483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81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2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484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6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487" name="TextBox 4"/>
          <p:cNvSpPr txBox="1"/>
          <p:nvPr/>
        </p:nvSpPr>
        <p:spPr>
          <a:xfrm>
            <a:off x="1727835" y="1559560"/>
            <a:ext cx="16428085" cy="260159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>
              <a:defRPr sz="2800" b="1"/>
            </a:pPr>
            <a:r>
              <a:rPr lang="en-IN" dirty="0"/>
              <a:t>Authentication page:</a:t>
            </a:r>
          </a:p>
          <a:p>
            <a:pPr>
              <a:defRPr sz="2800" b="1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  <a:defRPr sz="2800" b="1"/>
            </a:pPr>
            <a:r>
              <a:rPr lang="en-US" altLang="en-US" b="0" dirty="0"/>
              <a:t>The system uses Two-Factor Authentication (2FA) to enhance security.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 b="1"/>
            </a:pPr>
            <a:r>
              <a:rPr lang="en-US" altLang="en-US" b="0" dirty="0"/>
              <a:t>A 6-digit One-Time Password (OTP) is sent to the user’s email.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 b="1"/>
            </a:pPr>
            <a:r>
              <a:rPr lang="en-US" altLang="en-US" b="0" dirty="0"/>
              <a:t>The OTP must be entered within a limited time for verification.</a:t>
            </a:r>
          </a:p>
          <a:p>
            <a:pPr>
              <a:buSzPct val="100000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595" y="4053840"/>
            <a:ext cx="9087485" cy="42316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roup 5"/>
          <p:cNvGrpSpPr/>
          <p:nvPr/>
        </p:nvGrpSpPr>
        <p:grpSpPr>
          <a:xfrm>
            <a:off x="735587" y="7321525"/>
            <a:ext cx="992464" cy="992464"/>
            <a:chOff x="0" y="0"/>
            <a:chExt cx="992462" cy="992462"/>
          </a:xfrm>
        </p:grpSpPr>
        <p:sp>
          <p:nvSpPr>
            <p:cNvPr id="490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1" name="TextBox 7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grpSp>
        <p:nvGrpSpPr>
          <p:cNvPr id="495" name="Group 8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93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4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98" name="Group 11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96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7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01" name="Group 14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99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0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504" name="Group 17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502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3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507" name="Group 20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505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6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510" name="Group 23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508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9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513" name="Group 26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511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516" name="Group 29"/>
          <p:cNvGrpSpPr/>
          <p:nvPr/>
        </p:nvGrpSpPr>
        <p:grpSpPr>
          <a:xfrm>
            <a:off x="977740" y="6653893"/>
            <a:ext cx="508159" cy="543806"/>
            <a:chOff x="0" y="0"/>
            <a:chExt cx="508157" cy="543804"/>
          </a:xfrm>
        </p:grpSpPr>
        <p:sp>
          <p:nvSpPr>
            <p:cNvPr id="514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sp>
        <p:nvSpPr>
          <p:cNvPr id="517" name="Freeform 32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9" name="TextBox 1"/>
          <p:cNvSpPr txBox="1"/>
          <p:nvPr/>
        </p:nvSpPr>
        <p:spPr>
          <a:xfrm>
            <a:off x="236219" y="290492"/>
            <a:ext cx="17815562" cy="76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ADVANTAGES &amp; LIMITATIONS</a:t>
            </a:r>
          </a:p>
        </p:txBody>
      </p:sp>
      <p:sp>
        <p:nvSpPr>
          <p:cNvPr id="520" name="Text Box 2"/>
          <p:cNvSpPr txBox="1"/>
          <p:nvPr/>
        </p:nvSpPr>
        <p:spPr>
          <a:xfrm>
            <a:off x="2385694" y="2090420"/>
            <a:ext cx="13970637" cy="52322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spcBef>
                <a:spcPts val="2000"/>
              </a:spcBef>
              <a:defRPr sz="2800" b="1"/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58841" y="1265170"/>
            <a:ext cx="15297284" cy="85869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job seekers and employers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the recruitment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for both applicants and recruiters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job search with filters like location, skills, and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 and online job application submission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of application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between candidates and employers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better 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handling with authentication mechanisms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that can handle multiple users </a:t>
            </a:r>
          </a:p>
          <a:p>
            <a:pPr>
              <a:buNone/>
            </a:pP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 stable internet connection to function properly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features may need further enhancement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advanced analytics and reporting features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may reduce with very high user 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require technical knowledge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privacy issues if not properly secured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 of job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accurate user input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regular updates and maintenance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offline usage 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Box 43"/>
          <p:cNvSpPr txBox="1"/>
          <p:nvPr/>
        </p:nvSpPr>
        <p:spPr>
          <a:xfrm>
            <a:off x="3200400" y="4486171"/>
            <a:ext cx="11159653" cy="1294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10100"/>
              </a:lnSpc>
              <a:defRPr sz="11100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1900</Words>
  <Application>Microsoft Office PowerPoint</Application>
  <PresentationFormat>Custom</PresentationFormat>
  <Paragraphs>326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BACHU VISHNU VARDHAN</dc:creator>
  <cp:lastModifiedBy>BACHU VISHNU VARDHAN</cp:lastModifiedBy>
  <cp:revision>1</cp:revision>
  <dcterms:created xsi:type="dcterms:W3CDTF">2026-05-05T19:19:47Z</dcterms:created>
  <dcterms:modified xsi:type="dcterms:W3CDTF">2026-05-06T04:01:41Z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2052-12.9.0.26352</vt:lpwstr>
  </property>
  <property fmtid="{D5CDD505-2E9C-101B-9397-08002B2CF9AE}" pid="3" name="ICV">
    <vt:lpwstr>2908154DC90542FEA833DE2258D8F1B2_12</vt:lpwstr>
  </property>
</Properties>
</file>